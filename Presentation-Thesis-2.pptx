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  <p:sldMasterId id="2147483724" r:id="rId2"/>
  </p:sldMasterIdLst>
  <p:notesMasterIdLst>
    <p:notesMasterId r:id="rId32"/>
  </p:notesMasterIdLst>
  <p:sldIdLst>
    <p:sldId id="258" r:id="rId3"/>
    <p:sldId id="273" r:id="rId4"/>
    <p:sldId id="270" r:id="rId5"/>
    <p:sldId id="271" r:id="rId6"/>
    <p:sldId id="272" r:id="rId7"/>
    <p:sldId id="275" r:id="rId8"/>
    <p:sldId id="268" r:id="rId9"/>
    <p:sldId id="276" r:id="rId10"/>
    <p:sldId id="277" r:id="rId11"/>
    <p:sldId id="278" r:id="rId12"/>
    <p:sldId id="279" r:id="rId13"/>
    <p:sldId id="291" r:id="rId14"/>
    <p:sldId id="280" r:id="rId15"/>
    <p:sldId id="294" r:id="rId16"/>
    <p:sldId id="295" r:id="rId17"/>
    <p:sldId id="292" r:id="rId18"/>
    <p:sldId id="293" r:id="rId19"/>
    <p:sldId id="296" r:id="rId20"/>
    <p:sldId id="297" r:id="rId21"/>
    <p:sldId id="298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1178" autoAdjust="0"/>
  </p:normalViewPr>
  <p:slideViewPr>
    <p:cSldViewPr snapToGrid="0">
      <p:cViewPr>
        <p:scale>
          <a:sx n="75" d="100"/>
          <a:sy n="75" d="100"/>
        </p:scale>
        <p:origin x="71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ulas\ECE\Thesis\Code\GEMV_Charts_Fin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Speed-up vs dense across 11 GEMV shapes (300 MHz)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2:4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'Chart Data'!$A$2:$A$13</c:f>
              <c:strCache>
                <c:ptCount val="12"/>
                <c:pt idx="0">
                  <c:v>G1</c:v>
                </c:pt>
                <c:pt idx="1">
                  <c:v>G2</c:v>
                </c:pt>
                <c:pt idx="2">
                  <c:v>G3</c:v>
                </c:pt>
                <c:pt idx="3">
                  <c:v>G4</c:v>
                </c:pt>
                <c:pt idx="4">
                  <c:v>G5</c:v>
                </c:pt>
                <c:pt idx="5">
                  <c:v>G6</c:v>
                </c:pt>
                <c:pt idx="6">
                  <c:v>G7</c:v>
                </c:pt>
                <c:pt idx="7">
                  <c:v>G8</c:v>
                </c:pt>
                <c:pt idx="8">
                  <c:v>G9</c:v>
                </c:pt>
                <c:pt idx="9">
                  <c:v>G10</c:v>
                </c:pt>
                <c:pt idx="10">
                  <c:v>G11</c:v>
                </c:pt>
                <c:pt idx="11">
                  <c:v>GEOMEAN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2.0023</c:v>
                </c:pt>
                <c:pt idx="1">
                  <c:v>2.0306999999999999</c:v>
                </c:pt>
                <c:pt idx="2">
                  <c:v>1.9512</c:v>
                </c:pt>
                <c:pt idx="3">
                  <c:v>1.9790000000000001</c:v>
                </c:pt>
                <c:pt idx="4">
                  <c:v>2.0023</c:v>
                </c:pt>
                <c:pt idx="5">
                  <c:v>2.0194999999999999</c:v>
                </c:pt>
                <c:pt idx="6">
                  <c:v>1.9978</c:v>
                </c:pt>
                <c:pt idx="7">
                  <c:v>1.9745999999999999</c:v>
                </c:pt>
                <c:pt idx="8">
                  <c:v>2.0206</c:v>
                </c:pt>
                <c:pt idx="9">
                  <c:v>2.0022000000000002</c:v>
                </c:pt>
                <c:pt idx="10">
                  <c:v>2.02</c:v>
                </c:pt>
                <c:pt idx="11">
                  <c:v>1.9999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4-4817-B15B-B434A62F6457}"/>
            </c:ext>
          </c:extLst>
        </c:ser>
        <c:ser>
          <c:idx val="1"/>
          <c:order val="1"/>
          <c:tx>
            <c:strRef>
              <c:f>'Chart Data'!$C$1</c:f>
              <c:strCache>
                <c:ptCount val="1"/>
                <c:pt idx="0">
                  <c:v>2:8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'Chart Data'!$A$2:$A$13</c:f>
              <c:strCache>
                <c:ptCount val="12"/>
                <c:pt idx="0">
                  <c:v>G1</c:v>
                </c:pt>
                <c:pt idx="1">
                  <c:v>G2</c:v>
                </c:pt>
                <c:pt idx="2">
                  <c:v>G3</c:v>
                </c:pt>
                <c:pt idx="3">
                  <c:v>G4</c:v>
                </c:pt>
                <c:pt idx="4">
                  <c:v>G5</c:v>
                </c:pt>
                <c:pt idx="5">
                  <c:v>G6</c:v>
                </c:pt>
                <c:pt idx="6">
                  <c:v>G7</c:v>
                </c:pt>
                <c:pt idx="7">
                  <c:v>G8</c:v>
                </c:pt>
                <c:pt idx="8">
                  <c:v>G9</c:v>
                </c:pt>
                <c:pt idx="9">
                  <c:v>G10</c:v>
                </c:pt>
                <c:pt idx="10">
                  <c:v>G11</c:v>
                </c:pt>
                <c:pt idx="11">
                  <c:v>GEOMEAN</c:v>
                </c:pt>
              </c:strCache>
            </c:strRef>
          </c:cat>
          <c:val>
            <c:numRef>
              <c:f>'Chart Data'!$C$2:$C$13</c:f>
              <c:numCache>
                <c:formatCode>General</c:formatCode>
                <c:ptCount val="12"/>
                <c:pt idx="0">
                  <c:v>3.8917999999999999</c:v>
                </c:pt>
                <c:pt idx="1">
                  <c:v>3.9712000000000001</c:v>
                </c:pt>
                <c:pt idx="2">
                  <c:v>3.8723999999999998</c:v>
                </c:pt>
                <c:pt idx="3">
                  <c:v>3.9333999999999998</c:v>
                </c:pt>
                <c:pt idx="4">
                  <c:v>4.0072999999999999</c:v>
                </c:pt>
                <c:pt idx="5">
                  <c:v>3.9889000000000001</c:v>
                </c:pt>
                <c:pt idx="6">
                  <c:v>3.9828999999999999</c:v>
                </c:pt>
                <c:pt idx="7">
                  <c:v>3.9630000000000001</c:v>
                </c:pt>
                <c:pt idx="8">
                  <c:v>3.9729000000000001</c:v>
                </c:pt>
                <c:pt idx="9">
                  <c:v>3.9874999999999998</c:v>
                </c:pt>
                <c:pt idx="10">
                  <c:v>4.0167999999999999</c:v>
                </c:pt>
                <c:pt idx="11">
                  <c:v>3.9622999999999999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34-4817-B15B-B434A62F6457}"/>
            </c:ext>
          </c:extLst>
        </c:ser>
        <c:ser>
          <c:idx val="2"/>
          <c:order val="2"/>
          <c:tx>
            <c:strRef>
              <c:f>'Chart Data'!$D$1</c:f>
              <c:strCache>
                <c:ptCount val="1"/>
                <c:pt idx="0">
                  <c:v>2:16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'Chart Data'!$A$2:$A$13</c:f>
              <c:strCache>
                <c:ptCount val="12"/>
                <c:pt idx="0">
                  <c:v>G1</c:v>
                </c:pt>
                <c:pt idx="1">
                  <c:v>G2</c:v>
                </c:pt>
                <c:pt idx="2">
                  <c:v>G3</c:v>
                </c:pt>
                <c:pt idx="3">
                  <c:v>G4</c:v>
                </c:pt>
                <c:pt idx="4">
                  <c:v>G5</c:v>
                </c:pt>
                <c:pt idx="5">
                  <c:v>G6</c:v>
                </c:pt>
                <c:pt idx="6">
                  <c:v>G7</c:v>
                </c:pt>
                <c:pt idx="7">
                  <c:v>G8</c:v>
                </c:pt>
                <c:pt idx="8">
                  <c:v>G9</c:v>
                </c:pt>
                <c:pt idx="9">
                  <c:v>G10</c:v>
                </c:pt>
                <c:pt idx="10">
                  <c:v>G11</c:v>
                </c:pt>
                <c:pt idx="11">
                  <c:v>GEOMEAN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7.7542</c:v>
                </c:pt>
                <c:pt idx="1">
                  <c:v>7.8612000000000002</c:v>
                </c:pt>
                <c:pt idx="2">
                  <c:v>7.7714999999999996</c:v>
                </c:pt>
                <c:pt idx="3">
                  <c:v>7.8708</c:v>
                </c:pt>
                <c:pt idx="4">
                  <c:v>8.0741999999999994</c:v>
                </c:pt>
                <c:pt idx="5">
                  <c:v>7.9565999999999999</c:v>
                </c:pt>
                <c:pt idx="6">
                  <c:v>7.9751000000000003</c:v>
                </c:pt>
                <c:pt idx="7">
                  <c:v>8.0017999999999994</c:v>
                </c:pt>
                <c:pt idx="8">
                  <c:v>7.9962999999999997</c:v>
                </c:pt>
                <c:pt idx="9">
                  <c:v>7.9686000000000003</c:v>
                </c:pt>
                <c:pt idx="10">
                  <c:v>8.0263000000000009</c:v>
                </c:pt>
                <c:pt idx="11">
                  <c:v>7.9318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34-4817-B15B-B434A62F6457}"/>
            </c:ext>
          </c:extLst>
        </c:ser>
        <c:ser>
          <c:idx val="3"/>
          <c:order val="3"/>
          <c:tx>
            <c:strRef>
              <c:f>'Chart Data'!$E$1</c:f>
              <c:strCache>
                <c:ptCount val="1"/>
                <c:pt idx="0">
                  <c:v>2:32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'Chart Data'!$A$2:$A$13</c:f>
              <c:strCache>
                <c:ptCount val="12"/>
                <c:pt idx="0">
                  <c:v>G1</c:v>
                </c:pt>
                <c:pt idx="1">
                  <c:v>G2</c:v>
                </c:pt>
                <c:pt idx="2">
                  <c:v>G3</c:v>
                </c:pt>
                <c:pt idx="3">
                  <c:v>G4</c:v>
                </c:pt>
                <c:pt idx="4">
                  <c:v>G5</c:v>
                </c:pt>
                <c:pt idx="5">
                  <c:v>G6</c:v>
                </c:pt>
                <c:pt idx="6">
                  <c:v>G7</c:v>
                </c:pt>
                <c:pt idx="7">
                  <c:v>G8</c:v>
                </c:pt>
                <c:pt idx="8">
                  <c:v>G9</c:v>
                </c:pt>
                <c:pt idx="9">
                  <c:v>G10</c:v>
                </c:pt>
                <c:pt idx="10">
                  <c:v>G11</c:v>
                </c:pt>
                <c:pt idx="11">
                  <c:v>GEOMEAN</c:v>
                </c:pt>
              </c:strCache>
            </c:strRef>
          </c:cat>
          <c:val>
            <c:numRef>
              <c:f>'Chart Data'!$E$2:$E$13</c:f>
              <c:numCache>
                <c:formatCode>General</c:formatCode>
                <c:ptCount val="12"/>
                <c:pt idx="0">
                  <c:v>15.1937</c:v>
                </c:pt>
                <c:pt idx="1">
                  <c:v>15.7401</c:v>
                </c:pt>
                <c:pt idx="2">
                  <c:v>15.5015</c:v>
                </c:pt>
                <c:pt idx="3">
                  <c:v>15.4823</c:v>
                </c:pt>
                <c:pt idx="4">
                  <c:v>16.191600000000001</c:v>
                </c:pt>
                <c:pt idx="5">
                  <c:v>15.760300000000001</c:v>
                </c:pt>
                <c:pt idx="6">
                  <c:v>16.0367</c:v>
                </c:pt>
                <c:pt idx="7">
                  <c:v>15.825799999999999</c:v>
                </c:pt>
                <c:pt idx="8">
                  <c:v>16.005600000000001</c:v>
                </c:pt>
                <c:pt idx="9">
                  <c:v>15.956899999999999</c:v>
                </c:pt>
                <c:pt idx="10">
                  <c:v>16.263200000000001</c:v>
                </c:pt>
                <c:pt idx="11">
                  <c:v>15.811299999999999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34-4817-B15B-B434A62F6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665134287"/>
        <c:axId val="1665604015"/>
      </c:barChart>
      <c:catAx>
        <c:axId val="16651342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 shape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65604015"/>
        <c:crosses val="autoZero"/>
        <c:auto val="1"/>
        <c:lblAlgn val="ctr"/>
        <c:lblOffset val="100"/>
        <c:noMultiLvlLbl val="0"/>
      </c:catAx>
      <c:valAx>
        <c:axId val="1665604015"/>
        <c:scaling>
          <c:logBase val="10"/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Speed-up vs dense 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crossAx val="1665134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ACTUAL THROUGHPUT ACROSS 11 GEMV SHAPES (300MHZ) 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  <a:endParaRPr lang="en-C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Data'!$AO$1</c:f>
              <c:strCache>
                <c:ptCount val="1"/>
                <c:pt idx="0">
                  <c:v>dense</c:v>
                </c:pt>
              </c:strCache>
            </c:strRef>
          </c:tx>
          <c:spPr>
            <a:solidFill>
              <a:srgbClr val="1F4E79"/>
            </a:solidFill>
            <a:ln w="28575">
              <a:solidFill>
                <a:srgbClr val="1F4E79"/>
              </a:solidFill>
              <a:prstDash val="solid"/>
            </a:ln>
            <a:effectLst/>
          </c:spPr>
          <c:invertIfNegative val="0"/>
          <c:cat>
            <c:strRef>
              <c:f>'Chart Data'!$AN$2:$AN$12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Data'!$AO$2:$AO$12</c:f>
              <c:numCache>
                <c:formatCode>General</c:formatCode>
                <c:ptCount val="11"/>
                <c:pt idx="0">
                  <c:v>74.099999999999994</c:v>
                </c:pt>
                <c:pt idx="1">
                  <c:v>73.56</c:v>
                </c:pt>
                <c:pt idx="2">
                  <c:v>75.48</c:v>
                </c:pt>
                <c:pt idx="3">
                  <c:v>74.52</c:v>
                </c:pt>
                <c:pt idx="4">
                  <c:v>73.94</c:v>
                </c:pt>
                <c:pt idx="5">
                  <c:v>73.849999999999994</c:v>
                </c:pt>
                <c:pt idx="6">
                  <c:v>74.2</c:v>
                </c:pt>
                <c:pt idx="7">
                  <c:v>74.45</c:v>
                </c:pt>
                <c:pt idx="8">
                  <c:v>74.17</c:v>
                </c:pt>
                <c:pt idx="9">
                  <c:v>73.91</c:v>
                </c:pt>
                <c:pt idx="10">
                  <c:v>73.790000000000006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3-4DA3-979D-760B2F514C71}"/>
            </c:ext>
          </c:extLst>
        </c:ser>
        <c:ser>
          <c:idx val="1"/>
          <c:order val="1"/>
          <c:tx>
            <c:strRef>
              <c:f>'Chart Data'!$AP$1</c:f>
              <c:strCache>
                <c:ptCount val="1"/>
                <c:pt idx="0">
                  <c:v>2:4</c:v>
                </c:pt>
              </c:strCache>
            </c:strRef>
          </c:tx>
          <c:spPr>
            <a:solidFill>
              <a:srgbClr val="C00000"/>
            </a:solidFill>
            <a:ln w="28575">
              <a:solidFill>
                <a:srgbClr val="C00000"/>
              </a:solidFill>
              <a:prstDash val="solid"/>
            </a:ln>
            <a:effectLst/>
          </c:spPr>
          <c:invertIfNegative val="0"/>
          <c:cat>
            <c:strRef>
              <c:f>'Chart Data'!$AN$2:$AN$12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Data'!$AP$2:$AP$12</c:f>
              <c:numCache>
                <c:formatCode>General</c:formatCode>
                <c:ptCount val="11"/>
                <c:pt idx="0">
                  <c:v>74.180000000000007</c:v>
                </c:pt>
                <c:pt idx="1">
                  <c:v>74.69</c:v>
                </c:pt>
                <c:pt idx="2">
                  <c:v>73.64</c:v>
                </c:pt>
                <c:pt idx="3">
                  <c:v>73.739999999999995</c:v>
                </c:pt>
                <c:pt idx="4">
                  <c:v>74.03</c:v>
                </c:pt>
                <c:pt idx="5">
                  <c:v>74.569999999999993</c:v>
                </c:pt>
                <c:pt idx="6">
                  <c:v>74.12</c:v>
                </c:pt>
                <c:pt idx="7">
                  <c:v>73.510000000000005</c:v>
                </c:pt>
                <c:pt idx="8">
                  <c:v>74.930000000000007</c:v>
                </c:pt>
                <c:pt idx="9">
                  <c:v>73.989999999999995</c:v>
                </c:pt>
                <c:pt idx="10">
                  <c:v>74.53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F3-4DA3-979D-760B2F514C71}"/>
            </c:ext>
          </c:extLst>
        </c:ser>
        <c:ser>
          <c:idx val="2"/>
          <c:order val="2"/>
          <c:tx>
            <c:strRef>
              <c:f>'Chart Data'!$AQ$1</c:f>
              <c:strCache>
                <c:ptCount val="1"/>
                <c:pt idx="0">
                  <c:v>2:8</c:v>
                </c:pt>
              </c:strCache>
            </c:strRef>
          </c:tx>
          <c:spPr>
            <a:solidFill>
              <a:srgbClr val="2E7D32"/>
            </a:solidFill>
            <a:ln w="28575">
              <a:solidFill>
                <a:srgbClr val="2E7D32"/>
              </a:solidFill>
              <a:prstDash val="solid"/>
            </a:ln>
            <a:effectLst/>
          </c:spPr>
          <c:invertIfNegative val="0"/>
          <c:cat>
            <c:strRef>
              <c:f>'Chart Data'!$AN$2:$AN$12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Data'!$AQ$2:$AQ$12</c:f>
              <c:numCache>
                <c:formatCode>General</c:formatCode>
                <c:ptCount val="11"/>
                <c:pt idx="0">
                  <c:v>72.09</c:v>
                </c:pt>
                <c:pt idx="1">
                  <c:v>73.03</c:v>
                </c:pt>
                <c:pt idx="2">
                  <c:v>73.069999999999993</c:v>
                </c:pt>
                <c:pt idx="3">
                  <c:v>73.28</c:v>
                </c:pt>
                <c:pt idx="4">
                  <c:v>74.08</c:v>
                </c:pt>
                <c:pt idx="5">
                  <c:v>73.64</c:v>
                </c:pt>
                <c:pt idx="6">
                  <c:v>73.88</c:v>
                </c:pt>
                <c:pt idx="7">
                  <c:v>73.77</c:v>
                </c:pt>
                <c:pt idx="8">
                  <c:v>73.66</c:v>
                </c:pt>
                <c:pt idx="9">
                  <c:v>73.680000000000007</c:v>
                </c:pt>
                <c:pt idx="10">
                  <c:v>74.099999999999994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F3-4DA3-979D-760B2F514C71}"/>
            </c:ext>
          </c:extLst>
        </c:ser>
        <c:ser>
          <c:idx val="3"/>
          <c:order val="3"/>
          <c:tx>
            <c:strRef>
              <c:f>'Chart Data'!$AR$1</c:f>
              <c:strCache>
                <c:ptCount val="1"/>
                <c:pt idx="0">
                  <c:v>2:16</c:v>
                </c:pt>
              </c:strCache>
            </c:strRef>
          </c:tx>
          <c:spPr>
            <a:solidFill>
              <a:srgbClr val="E69F00"/>
            </a:solidFill>
            <a:ln w="28575">
              <a:solidFill>
                <a:srgbClr val="E69F00"/>
              </a:solidFill>
              <a:prstDash val="solid"/>
            </a:ln>
            <a:effectLst/>
          </c:spPr>
          <c:invertIfNegative val="0"/>
          <c:cat>
            <c:strRef>
              <c:f>'Chart Data'!$AN$2:$AN$12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Data'!$AR$2:$AR$12</c:f>
              <c:numCache>
                <c:formatCode>General</c:formatCode>
                <c:ptCount val="11"/>
                <c:pt idx="0">
                  <c:v>71.819999999999993</c:v>
                </c:pt>
                <c:pt idx="1">
                  <c:v>72.290000000000006</c:v>
                </c:pt>
                <c:pt idx="2">
                  <c:v>73.319999999999993</c:v>
                </c:pt>
                <c:pt idx="3">
                  <c:v>73.319999999999993</c:v>
                </c:pt>
                <c:pt idx="4">
                  <c:v>74.63</c:v>
                </c:pt>
                <c:pt idx="5">
                  <c:v>73.45</c:v>
                </c:pt>
                <c:pt idx="6">
                  <c:v>73.97</c:v>
                </c:pt>
                <c:pt idx="7">
                  <c:v>74.47</c:v>
                </c:pt>
                <c:pt idx="8">
                  <c:v>74.13</c:v>
                </c:pt>
                <c:pt idx="9">
                  <c:v>73.62</c:v>
                </c:pt>
                <c:pt idx="10">
                  <c:v>74.040000000000006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F3-4DA3-979D-760B2F514C71}"/>
            </c:ext>
          </c:extLst>
        </c:ser>
        <c:ser>
          <c:idx val="4"/>
          <c:order val="4"/>
          <c:tx>
            <c:strRef>
              <c:f>'Chart Data'!$AS$1</c:f>
              <c:strCache>
                <c:ptCount val="1"/>
                <c:pt idx="0">
                  <c:v>2:32</c:v>
                </c:pt>
              </c:strCache>
            </c:strRef>
          </c:tx>
          <c:spPr>
            <a:solidFill>
              <a:srgbClr val="7030A0"/>
            </a:solidFill>
            <a:ln w="28575">
              <a:solidFill>
                <a:srgbClr val="7030A0"/>
              </a:solidFill>
              <a:prstDash val="solid"/>
            </a:ln>
            <a:effectLst/>
          </c:spPr>
          <c:invertIfNegative val="0"/>
          <c:cat>
            <c:strRef>
              <c:f>'Chart Data'!$AN$2:$AN$12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Data'!$AS$2:$AS$12</c:f>
              <c:numCache>
                <c:formatCode>General</c:formatCode>
                <c:ptCount val="11"/>
                <c:pt idx="0">
                  <c:v>70.37</c:v>
                </c:pt>
                <c:pt idx="1">
                  <c:v>72.37</c:v>
                </c:pt>
                <c:pt idx="2">
                  <c:v>73.13</c:v>
                </c:pt>
                <c:pt idx="3">
                  <c:v>72.11</c:v>
                </c:pt>
                <c:pt idx="4">
                  <c:v>74.83</c:v>
                </c:pt>
                <c:pt idx="5">
                  <c:v>72.739999999999995</c:v>
                </c:pt>
                <c:pt idx="6">
                  <c:v>74.37</c:v>
                </c:pt>
                <c:pt idx="7">
                  <c:v>73.64</c:v>
                </c:pt>
                <c:pt idx="8">
                  <c:v>74.19</c:v>
                </c:pt>
                <c:pt idx="9">
                  <c:v>73.709999999999994</c:v>
                </c:pt>
                <c:pt idx="10">
                  <c:v>75.010000000000005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F3-4DA3-979D-760B2F514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897519711"/>
        <c:axId val="871482095"/>
      </c:barChart>
      <c:catAx>
        <c:axId val="8975197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 dimensions (M x 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871482095"/>
        <c:crosses val="autoZero"/>
        <c:auto val="1"/>
        <c:lblAlgn val="ctr"/>
        <c:lblOffset val="100"/>
        <c:noMultiLvlLbl val="0"/>
      </c:catAx>
      <c:valAx>
        <c:axId val="871482095"/>
        <c:scaling>
          <c:orientation val="minMax"/>
          <c:max val="8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GFLOPS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897519711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28" b="1" i="0" u="none" strike="noStrike" kern="1200" cap="all" spc="120" normalizeH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A matrix with four different </a:t>
            </a:r>
            <a:r>
              <a:rPr lang="en-US" sz="2128" b="1" i="0" u="none" strike="noStrike" kern="1200" cap="all" spc="120" normalizeH="0" baseline="0" dirty="0" err="1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sparsities</a:t>
            </a: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 costs the sum of its parts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28" b="1" i="0" u="none" strike="noStrike" kern="1200" cap="all" spc="120" normalizeH="0" baseline="0">
              <a:solidFill>
                <a:srgbClr val="FFFFFF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CY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'Chart Data'!$AG$1</c:f>
              <c:strCache>
                <c:ptCount val="1"/>
                <c:pt idx="0">
                  <c:v>2:4 segment</c:v>
                </c:pt>
              </c:strCache>
            </c:strRef>
          </c:tx>
          <c:spPr>
            <a:solidFill>
              <a:schemeClr val="accent1">
                <a:shade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Data'!$AG$2:$AG$3</c:f>
              <c:numCache>
                <c:formatCode>General</c:formatCode>
                <c:ptCount val="2"/>
                <c:pt idx="0">
                  <c:v>3571.4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4-4881-9810-8BF01BCBF22C}"/>
            </c:ext>
          </c:extLst>
        </c:ser>
        <c:ser>
          <c:idx val="1"/>
          <c:order val="1"/>
          <c:tx>
            <c:strRef>
              <c:f>'Chart Data'!$AH$1</c:f>
              <c:strCache>
                <c:ptCount val="1"/>
                <c:pt idx="0">
                  <c:v>2:8 segment</c:v>
                </c:pt>
              </c:strCache>
            </c:strRef>
          </c:tx>
          <c:spPr>
            <a:solidFill>
              <a:schemeClr val="accent1">
                <a:shade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Data'!$AH$2:$AH$3</c:f>
              <c:numCache>
                <c:formatCode>General</c:formatCode>
                <c:ptCount val="2"/>
                <c:pt idx="0">
                  <c:v>1789.9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4-4881-9810-8BF01BCBF22C}"/>
            </c:ext>
          </c:extLst>
        </c:ser>
        <c:ser>
          <c:idx val="2"/>
          <c:order val="2"/>
          <c:tx>
            <c:strRef>
              <c:f>'Chart Data'!$AI$1</c:f>
              <c:strCache>
                <c:ptCount val="1"/>
                <c:pt idx="0">
                  <c:v>2:16 segment</c:v>
                </c:pt>
              </c:strCache>
            </c:strRef>
          </c:tx>
          <c:spPr>
            <a:solidFill>
              <a:schemeClr val="accent1">
                <a:shade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Data'!$AI$2:$AI$3</c:f>
              <c:numCache>
                <c:formatCode>General</c:formatCode>
                <c:ptCount val="2"/>
                <c:pt idx="0">
                  <c:v>901.8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64-4881-9810-8BF01BCBF22C}"/>
            </c:ext>
          </c:extLst>
        </c:ser>
        <c:ser>
          <c:idx val="3"/>
          <c:order val="3"/>
          <c:tx>
            <c:strRef>
              <c:f>'Chart Data'!$AJ$1</c:f>
              <c:strCache>
                <c:ptCount val="1"/>
                <c:pt idx="0">
                  <c:v>2:32 segment</c:v>
                </c:pt>
              </c:strCache>
            </c:strRef>
          </c:tx>
          <c:spPr>
            <a:solidFill>
              <a:schemeClr val="accent1">
                <a:tint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Data'!$AJ$2:$AJ$3</c:f>
              <c:numCache>
                <c:formatCode>General</c:formatCode>
                <c:ptCount val="2"/>
                <c:pt idx="0">
                  <c:v>453.4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64-4881-9810-8BF01BCBF22C}"/>
            </c:ext>
          </c:extLst>
        </c:ser>
        <c:ser>
          <c:idx val="4"/>
          <c:order val="4"/>
          <c:tx>
            <c:strRef>
              <c:f>'Chart Data'!$AK$1</c:f>
              <c:strCache>
                <c:ptCount val="1"/>
                <c:pt idx="0">
                  <c:v>launch overhead</c:v>
                </c:pt>
              </c:strCache>
            </c:strRef>
          </c:tx>
          <c:spPr>
            <a:solidFill>
              <a:schemeClr val="accent1">
                <a:tint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Data'!$AK$2:$AK$3</c:f>
              <c:numCache>
                <c:formatCode>General</c:formatCode>
                <c:ptCount val="2"/>
                <c:pt idx="0">
                  <c:v>700.7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64-4881-9810-8BF01BCBF22C}"/>
            </c:ext>
          </c:extLst>
        </c:ser>
        <c:ser>
          <c:idx val="5"/>
          <c:order val="5"/>
          <c:tx>
            <c:strRef>
              <c:f>'Chart Data'!$AL$1</c:f>
              <c:strCache>
                <c:ptCount val="1"/>
                <c:pt idx="0">
                  <c:v>Measured kernel span</c:v>
                </c:pt>
              </c:strCache>
            </c:strRef>
          </c:tx>
          <c:spPr>
            <a:solidFill>
              <a:schemeClr val="accent1">
                <a:tint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'Chart Data'!$AF$2:$AF$3</c:f>
              <c:strCache>
                <c:ptCount val="2"/>
                <c:pt idx="0">
                  <c:v>Predicted</c:v>
                </c:pt>
                <c:pt idx="1">
                  <c:v>Measured</c:v>
                </c:pt>
              </c:strCache>
            </c:strRef>
          </c:cat>
          <c:val>
            <c:numRef>
              <c:f>'Chart Data'!$AL$2:$AL$3</c:f>
              <c:numCache>
                <c:formatCode>General</c:formatCode>
                <c:ptCount val="2"/>
                <c:pt idx="1">
                  <c:v>7417.2169999999996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A64-4881-9810-8BF01BCBF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83998783"/>
        <c:axId val="1665472975"/>
      </c:barChart>
      <c:catAx>
        <c:axId val="168399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65472975"/>
        <c:crosses val="autoZero"/>
        <c:auto val="1"/>
        <c:lblAlgn val="ctr"/>
        <c:lblOffset val="100"/>
        <c:noMultiLvlLbl val="0"/>
      </c:catAx>
      <c:valAx>
        <c:axId val="166547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Latency (us)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8399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Latency</a:t>
            </a:r>
            <a:r>
              <a:rPr lang="en-US" dirty="0"/>
              <a:t> </a:t>
            </a: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per matrix across shapes and </a:t>
            </a:r>
            <a:r>
              <a:rPr lang="en-US" sz="2128" b="1" i="0" u="none" strike="noStrike" kern="1200" cap="all" spc="120" normalizeH="0" baseline="0" dirty="0" err="1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sparsities</a:t>
            </a: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 (300 MHz)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  <a:endParaRPr lang="en-C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Data'!$BL$1</c:f>
              <c:strCache>
                <c:ptCount val="1"/>
                <c:pt idx="0">
                  <c:v>dense</c:v>
                </c:pt>
              </c:strCache>
            </c:strRef>
          </c:tx>
          <c:spPr>
            <a:solidFill>
              <a:srgbClr val="1F4E79"/>
            </a:solidFill>
            <a:ln w="28575">
              <a:solidFill>
                <a:srgbClr val="1F4E79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Data'!$BL$2:$BL$12</c:f>
              <c:numCache>
                <c:formatCode>General</c:formatCode>
                <c:ptCount val="11"/>
                <c:pt idx="0">
                  <c:v>7.0757000000000003</c:v>
                </c:pt>
                <c:pt idx="1">
                  <c:v>16.036000000000001</c:v>
                </c:pt>
                <c:pt idx="2">
                  <c:v>27.784800000000001</c:v>
                </c:pt>
                <c:pt idx="3">
                  <c:v>63.317900000000002</c:v>
                </c:pt>
                <c:pt idx="4">
                  <c:v>63.812800000000003</c:v>
                </c:pt>
                <c:pt idx="5">
                  <c:v>113.5937</c:v>
                </c:pt>
                <c:pt idx="6">
                  <c:v>113.0586</c:v>
                </c:pt>
                <c:pt idx="7">
                  <c:v>112.6688</c:v>
                </c:pt>
                <c:pt idx="8">
                  <c:v>452.42020000000002</c:v>
                </c:pt>
                <c:pt idx="9">
                  <c:v>453.9778</c:v>
                </c:pt>
                <c:pt idx="10">
                  <c:v>454.70249999999999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2-467F-B2CD-A3FF720070B7}"/>
            </c:ext>
          </c:extLst>
        </c:ser>
        <c:ser>
          <c:idx val="1"/>
          <c:order val="1"/>
          <c:tx>
            <c:strRef>
              <c:f>'Chart Data'!$BM$1</c:f>
              <c:strCache>
                <c:ptCount val="1"/>
                <c:pt idx="0">
                  <c:v>2:4</c:v>
                </c:pt>
              </c:strCache>
            </c:strRef>
          </c:tx>
          <c:spPr>
            <a:solidFill>
              <a:srgbClr val="C00000"/>
            </a:solidFill>
            <a:ln w="28575">
              <a:solidFill>
                <a:srgbClr val="C00000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Data'!$BM$2:$BM$12</c:f>
              <c:numCache>
                <c:formatCode>General</c:formatCode>
                <c:ptCount val="11"/>
                <c:pt idx="0">
                  <c:v>3.5337999999999998</c:v>
                </c:pt>
                <c:pt idx="1">
                  <c:v>7.8966000000000003</c:v>
                </c:pt>
                <c:pt idx="2">
                  <c:v>14.2399</c:v>
                </c:pt>
                <c:pt idx="3">
                  <c:v>31.994599999999998</c:v>
                </c:pt>
                <c:pt idx="4">
                  <c:v>31.870200000000001</c:v>
                </c:pt>
                <c:pt idx="5">
                  <c:v>56.248699999999999</c:v>
                </c:pt>
                <c:pt idx="6">
                  <c:v>56.590200000000003</c:v>
                </c:pt>
                <c:pt idx="7">
                  <c:v>57.058</c:v>
                </c:pt>
                <c:pt idx="8">
                  <c:v>223.9066</c:v>
                </c:pt>
                <c:pt idx="9">
                  <c:v>226.73570000000001</c:v>
                </c:pt>
                <c:pt idx="10">
                  <c:v>225.10550000000001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72-467F-B2CD-A3FF720070B7}"/>
            </c:ext>
          </c:extLst>
        </c:ser>
        <c:ser>
          <c:idx val="2"/>
          <c:order val="2"/>
          <c:tx>
            <c:strRef>
              <c:f>'Chart Data'!$BN$1</c:f>
              <c:strCache>
                <c:ptCount val="1"/>
                <c:pt idx="0">
                  <c:v>2:8</c:v>
                </c:pt>
              </c:strCache>
            </c:strRef>
          </c:tx>
          <c:spPr>
            <a:solidFill>
              <a:srgbClr val="2E7D32"/>
            </a:solidFill>
            <a:ln w="28575">
              <a:solidFill>
                <a:srgbClr val="2E7D32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Data'!$BN$2:$BN$12</c:f>
              <c:numCache>
                <c:formatCode>General</c:formatCode>
                <c:ptCount val="11"/>
                <c:pt idx="0">
                  <c:v>1.8181</c:v>
                </c:pt>
                <c:pt idx="1">
                  <c:v>4.0381</c:v>
                </c:pt>
                <c:pt idx="2">
                  <c:v>7.1749999999999998</c:v>
                </c:pt>
                <c:pt idx="3">
                  <c:v>16.0976</c:v>
                </c:pt>
                <c:pt idx="4">
                  <c:v>15.924300000000001</c:v>
                </c:pt>
                <c:pt idx="5">
                  <c:v>28.4773</c:v>
                </c:pt>
                <c:pt idx="6">
                  <c:v>28.385899999999999</c:v>
                </c:pt>
                <c:pt idx="7">
                  <c:v>28.4299</c:v>
                </c:pt>
                <c:pt idx="8">
                  <c:v>113.87560000000001</c:v>
                </c:pt>
                <c:pt idx="9">
                  <c:v>113.8514</c:v>
                </c:pt>
                <c:pt idx="10">
                  <c:v>113.20059999999999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72-467F-B2CD-A3FF720070B7}"/>
            </c:ext>
          </c:extLst>
        </c:ser>
        <c:ser>
          <c:idx val="3"/>
          <c:order val="3"/>
          <c:tx>
            <c:strRef>
              <c:f>'Chart Data'!$BO$1</c:f>
              <c:strCache>
                <c:ptCount val="1"/>
                <c:pt idx="0">
                  <c:v>2:16</c:v>
                </c:pt>
              </c:strCache>
            </c:strRef>
          </c:tx>
          <c:spPr>
            <a:solidFill>
              <a:srgbClr val="E69F00"/>
            </a:solidFill>
            <a:ln w="28575">
              <a:solidFill>
                <a:srgbClr val="E69F00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Data'!$BO$2:$BO$12</c:f>
              <c:numCache>
                <c:formatCode>General</c:formatCode>
                <c:ptCount val="11"/>
                <c:pt idx="0">
                  <c:v>0.91249999999999998</c:v>
                </c:pt>
                <c:pt idx="1">
                  <c:v>2.0398999999999998</c:v>
                </c:pt>
                <c:pt idx="2">
                  <c:v>3.5752000000000002</c:v>
                </c:pt>
                <c:pt idx="3">
                  <c:v>8.0447000000000006</c:v>
                </c:pt>
                <c:pt idx="4">
                  <c:v>7.9032999999999998</c:v>
                </c:pt>
                <c:pt idx="5">
                  <c:v>14.2766</c:v>
                </c:pt>
                <c:pt idx="6">
                  <c:v>14.176500000000001</c:v>
                </c:pt>
                <c:pt idx="7">
                  <c:v>14.080399999999999</c:v>
                </c:pt>
                <c:pt idx="8">
                  <c:v>56.578699999999998</c:v>
                </c:pt>
                <c:pt idx="9">
                  <c:v>56.970500000000001</c:v>
                </c:pt>
                <c:pt idx="10">
                  <c:v>56.651400000000002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72-467F-B2CD-A3FF720070B7}"/>
            </c:ext>
          </c:extLst>
        </c:ser>
        <c:ser>
          <c:idx val="4"/>
          <c:order val="4"/>
          <c:tx>
            <c:strRef>
              <c:f>'Chart Data'!$BP$1</c:f>
              <c:strCache>
                <c:ptCount val="1"/>
                <c:pt idx="0">
                  <c:v>2:32</c:v>
                </c:pt>
              </c:strCache>
            </c:strRef>
          </c:tx>
          <c:spPr>
            <a:solidFill>
              <a:srgbClr val="7030A0"/>
            </a:solidFill>
            <a:ln w="28575">
              <a:solidFill>
                <a:srgbClr val="7030A0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Data'!$BP$2:$BP$12</c:f>
              <c:numCache>
                <c:formatCode>General</c:formatCode>
                <c:ptCount val="11"/>
                <c:pt idx="0">
                  <c:v>0.4657</c:v>
                </c:pt>
                <c:pt idx="1">
                  <c:v>1.0187999999999999</c:v>
                </c:pt>
                <c:pt idx="2">
                  <c:v>1.7924</c:v>
                </c:pt>
                <c:pt idx="3">
                  <c:v>4.0896999999999997</c:v>
                </c:pt>
                <c:pt idx="4">
                  <c:v>3.9411</c:v>
                </c:pt>
                <c:pt idx="5">
                  <c:v>7.2076000000000002</c:v>
                </c:pt>
                <c:pt idx="6">
                  <c:v>7.05</c:v>
                </c:pt>
                <c:pt idx="7">
                  <c:v>7.1193</c:v>
                </c:pt>
                <c:pt idx="8">
                  <c:v>28.266400000000001</c:v>
                </c:pt>
                <c:pt idx="9">
                  <c:v>28.450299999999999</c:v>
                </c:pt>
                <c:pt idx="10">
                  <c:v>27.9589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72-467F-B2CD-A3FF720070B7}"/>
            </c:ext>
          </c:extLst>
        </c:ser>
        <c:ser>
          <c:idx val="5"/>
          <c:order val="5"/>
          <c:tx>
            <c:strRef>
              <c:f>'Chart Data'!$BQ$1</c:f>
              <c:strCache>
                <c:ptCount val="1"/>
                <c:pt idx="0">
                  <c:v>MIXED</c:v>
                </c:pt>
              </c:strCache>
            </c:strRef>
          </c:tx>
          <c:spPr>
            <a:solidFill>
              <a:srgbClr val="00838F"/>
            </a:solidFill>
            <a:ln w="28575">
              <a:solidFill>
                <a:srgbClr val="00838F"/>
              </a:solidFill>
              <a:prstDash val="solid"/>
            </a:ln>
            <a:effectLst/>
          </c:spPr>
          <c:invertIfNegative val="0"/>
          <c:cat>
            <c:strRef>
              <c:f>'Chart Data'!$BK$2:$BK$12</c:f>
              <c:strCache>
                <c:ptCount val="11"/>
                <c:pt idx="0">
                  <c:v>512x512</c:v>
                </c:pt>
                <c:pt idx="1">
                  <c:v>768x768</c:v>
                </c:pt>
                <c:pt idx="2">
                  <c:v>1024x1024</c:v>
                </c:pt>
                <c:pt idx="3">
                  <c:v>3072x768</c:v>
                </c:pt>
                <c:pt idx="4">
                  <c:v>768x3072</c:v>
                </c:pt>
                <c:pt idx="5">
                  <c:v>4096x1024</c:v>
                </c:pt>
                <c:pt idx="6">
                  <c:v>1024x4096</c:v>
                </c:pt>
                <c:pt idx="7">
                  <c:v>2048x2048</c:v>
                </c:pt>
                <c:pt idx="8">
                  <c:v>4096x4096</c:v>
                </c:pt>
                <c:pt idx="9">
                  <c:v>8192x2048</c:v>
                </c:pt>
                <c:pt idx="10">
                  <c:v>2048x8192</c:v>
                </c:pt>
              </c:strCache>
            </c:strRef>
          </c:cat>
          <c:val>
            <c:numRef>
              <c:f>'Chart Data'!$BQ$2:$BQ$12</c:f>
              <c:numCache>
                <c:formatCode>General</c:formatCode>
                <c:ptCount val="11"/>
                <c:pt idx="0">
                  <c:v>1.6601999999999999</c:v>
                </c:pt>
                <c:pt idx="1">
                  <c:v>3.7231000000000001</c:v>
                </c:pt>
                <c:pt idx="2">
                  <c:v>6.4935</c:v>
                </c:pt>
                <c:pt idx="3">
                  <c:v>14.7399</c:v>
                </c:pt>
                <c:pt idx="4">
                  <c:v>14.71</c:v>
                </c:pt>
                <c:pt idx="5">
                  <c:v>26.3139</c:v>
                </c:pt>
                <c:pt idx="6">
                  <c:v>26.0928</c:v>
                </c:pt>
                <c:pt idx="7">
                  <c:v>26.226600000000001</c:v>
                </c:pt>
                <c:pt idx="8">
                  <c:v>104.3351</c:v>
                </c:pt>
                <c:pt idx="9">
                  <c:v>106.1097</c:v>
                </c:pt>
                <c:pt idx="10">
                  <c:v>104.3028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72-467F-B2CD-A3FF72007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11797039"/>
        <c:axId val="31107503"/>
      </c:barChart>
      <c:catAx>
        <c:axId val="4117970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 dimensions (M x 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31107503"/>
        <c:crosses val="autoZero"/>
        <c:auto val="1"/>
        <c:lblAlgn val="ctr"/>
        <c:lblOffset val="100"/>
        <c:noMultiLvlLbl val="0"/>
      </c:catAx>
      <c:valAx>
        <c:axId val="31107503"/>
        <c:scaling>
          <c:logBase val="10"/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Latency per matrix (us, log scale)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411797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2128" b="1" i="0" u="none" strike="noStrike" kern="1200" cap="all" spc="120" normalizeH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2128" b="1" i="0" u="none" strike="noStrike" kern="1200" cap="all" spc="120" normalizeH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DSP occupancy during compute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2128" b="1" i="0" u="none" strike="noStrike" kern="1200" cap="all" spc="120" normalizeH="0" baseline="0">
              <a:solidFill>
                <a:srgbClr val="FFFFFF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C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Data'!$V$1</c:f>
              <c:strCache>
                <c:ptCount val="1"/>
                <c:pt idx="0">
                  <c:v>300 MHz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'Chart Data'!$U$2:$U$7</c:f>
              <c:strCache>
                <c:ptCount val="6"/>
                <c:pt idx="0">
                  <c:v>dense</c:v>
                </c:pt>
                <c:pt idx="1">
                  <c:v>2:4</c:v>
                </c:pt>
                <c:pt idx="2">
                  <c:v>2:8</c:v>
                </c:pt>
                <c:pt idx="3">
                  <c:v>2:16</c:v>
                </c:pt>
                <c:pt idx="4">
                  <c:v>2:32</c:v>
                </c:pt>
                <c:pt idx="5">
                  <c:v>MIXED</c:v>
                </c:pt>
              </c:strCache>
            </c:strRef>
          </c:cat>
          <c:val>
            <c:numRef>
              <c:f>'Chart Data'!$V$2:$V$7</c:f>
              <c:numCache>
                <c:formatCode>General</c:formatCode>
                <c:ptCount val="6"/>
                <c:pt idx="0">
                  <c:v>0.95920000000000005</c:v>
                </c:pt>
                <c:pt idx="1">
                  <c:v>0.96989999999999998</c:v>
                </c:pt>
                <c:pt idx="2">
                  <c:v>0.96030000000000004</c:v>
                </c:pt>
                <c:pt idx="3">
                  <c:v>0.95669999999999999</c:v>
                </c:pt>
                <c:pt idx="4">
                  <c:v>0.95499999999999996</c:v>
                </c:pt>
                <c:pt idx="5">
                  <c:v>0.96930000000000005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C-4D11-AD29-57224F7B8317}"/>
            </c:ext>
          </c:extLst>
        </c:ser>
        <c:ser>
          <c:idx val="1"/>
          <c:order val="1"/>
          <c:tx>
            <c:strRef>
              <c:f>'Chart Data'!$W$1</c:f>
              <c:strCache>
                <c:ptCount val="1"/>
                <c:pt idx="0">
                  <c:v>325 MHz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'Chart Data'!$U$2:$U$7</c:f>
              <c:strCache>
                <c:ptCount val="6"/>
                <c:pt idx="0">
                  <c:v>dense</c:v>
                </c:pt>
                <c:pt idx="1">
                  <c:v>2:4</c:v>
                </c:pt>
                <c:pt idx="2">
                  <c:v>2:8</c:v>
                </c:pt>
                <c:pt idx="3">
                  <c:v>2:16</c:v>
                </c:pt>
                <c:pt idx="4">
                  <c:v>2:32</c:v>
                </c:pt>
                <c:pt idx="5">
                  <c:v>MIXED</c:v>
                </c:pt>
              </c:strCache>
            </c:strRef>
          </c:cat>
          <c:val>
            <c:numRef>
              <c:f>'Chart Data'!$W$2:$W$7</c:f>
              <c:numCache>
                <c:formatCode>General</c:formatCode>
                <c:ptCount val="6"/>
                <c:pt idx="0">
                  <c:v>0.96709999999999996</c:v>
                </c:pt>
                <c:pt idx="1">
                  <c:v>0.96499999999999997</c:v>
                </c:pt>
                <c:pt idx="2">
                  <c:v>0.95620000000000005</c:v>
                </c:pt>
                <c:pt idx="3">
                  <c:v>0.95779999999999998</c:v>
                </c:pt>
                <c:pt idx="4">
                  <c:v>0.94530000000000003</c:v>
                </c:pt>
                <c:pt idx="5">
                  <c:v>0.97040000000000004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1C-4D11-AD29-57224F7B8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2366367"/>
        <c:axId val="1665418255"/>
      </c:barChart>
      <c:catAx>
        <c:axId val="16923663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Sparsity pattern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65418255"/>
        <c:crosses val="autoZero"/>
        <c:auto val="1"/>
        <c:lblAlgn val="ctr"/>
        <c:lblOffset val="100"/>
        <c:noMultiLvlLbl val="0"/>
      </c:catAx>
      <c:valAx>
        <c:axId val="1665418255"/>
        <c:scaling>
          <c:orientation val="minMax"/>
          <c:max val="1"/>
          <c:min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DSP occupancy (fraction)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92366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2128" b="1" i="0" u="none" strike="noStrike" kern="1200" cap="all" spc="120" normalizeH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Energy per row (board power)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2128" b="1" i="0" u="none" strike="noStrike" kern="1200" cap="all" spc="120" normalizeH="0" baseline="0">
              <a:solidFill>
                <a:srgbClr val="FFFFFF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C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Data'!$Z$1</c:f>
              <c:strCache>
                <c:ptCount val="1"/>
                <c:pt idx="0">
                  <c:v>300 MHz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'Chart Data'!$Y$2:$Y$6</c:f>
              <c:strCache>
                <c:ptCount val="5"/>
                <c:pt idx="0">
                  <c:v>dense</c:v>
                </c:pt>
                <c:pt idx="1">
                  <c:v>2:4</c:v>
                </c:pt>
                <c:pt idx="2">
                  <c:v>2:8</c:v>
                </c:pt>
                <c:pt idx="3">
                  <c:v>2:16</c:v>
                </c:pt>
                <c:pt idx="4">
                  <c:v>2:32</c:v>
                </c:pt>
              </c:strCache>
            </c:strRef>
          </c:cat>
          <c:val>
            <c:numRef>
              <c:f>'Chart Data'!$Z$2:$Z$6</c:f>
              <c:numCache>
                <c:formatCode>General</c:formatCode>
                <c:ptCount val="5"/>
                <c:pt idx="0">
                  <c:v>887.5</c:v>
                </c:pt>
                <c:pt idx="1">
                  <c:v>508</c:v>
                </c:pt>
                <c:pt idx="2">
                  <c:v>253.7</c:v>
                </c:pt>
                <c:pt idx="3">
                  <c:v>128.4</c:v>
                </c:pt>
                <c:pt idx="4">
                  <c:v>65.099999999999994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C5-4D9B-B286-F11B9101600F}"/>
            </c:ext>
          </c:extLst>
        </c:ser>
        <c:ser>
          <c:idx val="1"/>
          <c:order val="1"/>
          <c:tx>
            <c:strRef>
              <c:f>'Chart Data'!$AA$1</c:f>
              <c:strCache>
                <c:ptCount val="1"/>
                <c:pt idx="0">
                  <c:v>325 MHz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'Chart Data'!$Y$2:$Y$6</c:f>
              <c:strCache>
                <c:ptCount val="5"/>
                <c:pt idx="0">
                  <c:v>dense</c:v>
                </c:pt>
                <c:pt idx="1">
                  <c:v>2:4</c:v>
                </c:pt>
                <c:pt idx="2">
                  <c:v>2:8</c:v>
                </c:pt>
                <c:pt idx="3">
                  <c:v>2:16</c:v>
                </c:pt>
                <c:pt idx="4">
                  <c:v>2:32</c:v>
                </c:pt>
              </c:strCache>
            </c:strRef>
          </c:cat>
          <c:val>
            <c:numRef>
              <c:f>'Chart Data'!$AA$2:$AA$6</c:f>
              <c:numCache>
                <c:formatCode>General</c:formatCode>
                <c:ptCount val="5"/>
                <c:pt idx="0">
                  <c:v>832.8</c:v>
                </c:pt>
                <c:pt idx="1">
                  <c:v>474.1</c:v>
                </c:pt>
                <c:pt idx="2">
                  <c:v>236</c:v>
                </c:pt>
                <c:pt idx="3">
                  <c:v>121.3</c:v>
                </c:pt>
                <c:pt idx="4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C5-4D9B-B286-F11B910160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2363119"/>
        <c:axId val="1665454255"/>
      </c:barChart>
      <c:catAx>
        <c:axId val="1692363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Sparsity pattern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65454255"/>
        <c:crosses val="autoZero"/>
        <c:auto val="1"/>
        <c:lblAlgn val="ctr"/>
        <c:lblOffset val="100"/>
        <c:noMultiLvlLbl val="0"/>
      </c:catAx>
      <c:valAx>
        <c:axId val="1665454255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Energy per row (nJ, log scale)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92363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128" b="1" i="0" u="none" strike="noStrike" kern="1200" cap="all" spc="120" normalizeH="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Board power is flat across sparsity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'Chart Data'!$AD$1</c:f>
              <c:strCache>
                <c:ptCount val="1"/>
                <c:pt idx="0">
                  <c:v>Board load (W)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'Chart Data'!$AC$2:$AC$6</c:f>
              <c:strCache>
                <c:ptCount val="5"/>
                <c:pt idx="0">
                  <c:v>dense</c:v>
                </c:pt>
                <c:pt idx="1">
                  <c:v>2:4</c:v>
                </c:pt>
                <c:pt idx="2">
                  <c:v>2:8</c:v>
                </c:pt>
                <c:pt idx="3">
                  <c:v>2:16</c:v>
                </c:pt>
                <c:pt idx="4">
                  <c:v>2:32</c:v>
                </c:pt>
              </c:strCache>
            </c:strRef>
          </c:cat>
          <c:val>
            <c:numRef>
              <c:f>'Chart Data'!$AD$2:$AD$6</c:f>
              <c:numCache>
                <c:formatCode>General</c:formatCode>
                <c:ptCount val="5"/>
                <c:pt idx="0">
                  <c:v>31.297000000000001</c:v>
                </c:pt>
                <c:pt idx="1">
                  <c:v>35.442</c:v>
                </c:pt>
                <c:pt idx="2">
                  <c:v>35.326999999999998</c:v>
                </c:pt>
                <c:pt idx="3">
                  <c:v>35.412999999999997</c:v>
                </c:pt>
                <c:pt idx="4">
                  <c:v>35.521000000000001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FE-4E01-B06A-ED3447170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3988575"/>
        <c:axId val="1665447535"/>
      </c:lineChart>
      <c:catAx>
        <c:axId val="16839885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Sparsity pattern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65447535"/>
        <c:crosses val="autoZero"/>
        <c:auto val="1"/>
        <c:lblAlgn val="ctr"/>
        <c:lblOffset val="100"/>
        <c:noMultiLvlLbl val="0"/>
      </c:catAx>
      <c:valAx>
        <c:axId val="1665447535"/>
        <c:scaling>
          <c:orientation val="minMax"/>
          <c:max val="38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Board load (W)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Y"/>
          </a:p>
        </c:txPr>
        <c:crossAx val="1683988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Y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Y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6DDB3-4C11-4F36-968E-233BBF436E84}" type="datetimeFigureOut">
              <a:rPr lang="en-CY" smtClean="0"/>
              <a:t>03/09/2026</a:t>
            </a:fld>
            <a:endParaRPr lang="en-C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FDCC2-646B-4C13-A2C5-83C221A1E04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07017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9181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435642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7B17C-8871-3BD1-E363-C72DE32A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2CFEE-7646-FDCF-2F5F-3F44A48B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20CD9-89F5-D70B-DEC6-19BA9A527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273B-6B03-9FA2-C07F-C25CA76B4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6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0255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F084E-99AA-8091-A17D-27DE9051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EE760-BCFB-9FE2-F369-B5124735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1DB5D-4C0B-97A7-5283-EF2D46B57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Από το διάγραμμα αυτό παρατηρούμε ότι με ελαφρύ </a:t>
            </a:r>
            <a:r>
              <a:rPr lang="en-US" dirty="0"/>
              <a:t>pruning </a:t>
            </a:r>
            <a:r>
              <a:rPr lang="el-GR" dirty="0"/>
              <a:t>σε όλα τα </a:t>
            </a:r>
            <a:r>
              <a:rPr lang="en-US" dirty="0"/>
              <a:t>layers </a:t>
            </a:r>
            <a:r>
              <a:rPr lang="el-GR" dirty="0"/>
              <a:t>η ακρίβεια του μοντέλου παραμένει υψηλή και κοντά στο </a:t>
            </a:r>
            <a:r>
              <a:rPr lang="en-US" dirty="0"/>
              <a:t>Baseline.</a:t>
            </a:r>
            <a:r>
              <a:rPr lang="el-GR" dirty="0"/>
              <a:t> Με αύξηση του </a:t>
            </a:r>
            <a:r>
              <a:rPr lang="en-US" dirty="0"/>
              <a:t>threshold </a:t>
            </a:r>
            <a:r>
              <a:rPr lang="el-GR" dirty="0"/>
              <a:t>παρατηρείται αισθητή πτώση της απόδοσης του μοντέλου.</a:t>
            </a:r>
          </a:p>
          <a:p>
            <a:endParaRPr lang="el-GR" dirty="0"/>
          </a:p>
          <a:p>
            <a:r>
              <a:rPr lang="el-GR" dirty="0"/>
              <a:t>Σημασία έχει να δούμε την ευαισθησία των </a:t>
            </a:r>
            <a:r>
              <a:rPr lang="en-US" dirty="0"/>
              <a:t>Layers</a:t>
            </a:r>
            <a:r>
              <a:rPr lang="el-GR" dirty="0"/>
              <a:t>, όπου τα πρώτα </a:t>
            </a:r>
            <a:r>
              <a:rPr lang="en-US" dirty="0"/>
              <a:t>layers </a:t>
            </a:r>
            <a:r>
              <a:rPr lang="el-GR" dirty="0"/>
              <a:t>με </a:t>
            </a:r>
            <a:r>
              <a:rPr lang="en-US" dirty="0"/>
              <a:t>pruning </a:t>
            </a:r>
            <a:r>
              <a:rPr lang="el-GR" dirty="0"/>
              <a:t>έχουν καταστροφικά αποτελέσματα σε αντίθεση με τα τελευταία </a:t>
            </a:r>
            <a:r>
              <a:rPr lang="en-US" dirty="0"/>
              <a:t>layers</a:t>
            </a:r>
            <a:r>
              <a:rPr lang="el-GR" dirty="0"/>
              <a:t>, τα οποία και με </a:t>
            </a:r>
            <a:r>
              <a:rPr lang="en-US" dirty="0"/>
              <a:t>aggressive pruning </a:t>
            </a:r>
            <a:r>
              <a:rPr lang="el-GR" dirty="0"/>
              <a:t>παραμένουν με ψηλό </a:t>
            </a:r>
            <a:r>
              <a:rPr lang="en-US" dirty="0"/>
              <a:t>accuracy.</a:t>
            </a:r>
          </a:p>
          <a:p>
            <a:endParaRPr lang="en-US" dirty="0"/>
          </a:p>
          <a:p>
            <a:r>
              <a:rPr lang="el-GR" dirty="0"/>
              <a:t>Αυτό είναι λογικό καθώς τα πρώτα </a:t>
            </a:r>
            <a:r>
              <a:rPr lang="en-US" dirty="0"/>
              <a:t>layers </a:t>
            </a:r>
            <a:r>
              <a:rPr lang="el-GR" dirty="0"/>
              <a:t>είναι πιο κοντά στην είσοδο με αποτέλεσμα να επικρατεί το φαινόμενο σπασμένου τηλεφώνου, ενώ τα </a:t>
            </a:r>
            <a:r>
              <a:rPr lang="en-US" dirty="0"/>
              <a:t>layers </a:t>
            </a:r>
            <a:r>
              <a:rPr lang="el-GR" dirty="0"/>
              <a:t>που είναι κοντά στην έξοδο είναι πιο ανθεκτικά καθώς η πληροφορία έχει ήδη επεξεργαστεί αρκετά από τα προηγούμενα </a:t>
            </a:r>
            <a:r>
              <a:rPr lang="en-US"/>
              <a:t>layers.</a:t>
            </a:r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2AA67-93EF-3712-C8BC-B7F008E1E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7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4221334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1F6C-6CB3-0867-F817-B4B6D4B9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7915C-DD03-581D-263A-B2476F5C9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267A6-131C-3028-ADD2-B14DB2303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F5335-AB25-067B-3D27-D8B96482D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10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6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2F20-695D-2CDA-5EE7-61231A22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3C50E-733D-1008-8399-D14707490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308A2-0745-EC3D-4829-1C4392EF5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B62F6-3AE2-55FE-C165-F0DF06333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95029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D8E2-3212-B088-4415-C820D37C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4241F-E4D4-F6AF-90A1-7C0FA13E3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A0CFD-B525-22B7-90B0-FA1FD00DB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EE798-3081-B034-2B2D-ED30E4D95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14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939210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C724-57EB-8779-45A3-8B01E351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F86A8-FBBC-D08A-4F53-84E05A4F5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0D424-54D5-A044-68B3-64EE05D40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77AA9-E05E-6814-6DE9-AE2280555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15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7980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583E-7094-19FF-B4DE-84787D92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2102D-0068-EAC7-3BBA-2324161C5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0896C-CD44-6E2A-8A5D-3E804C16C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0E928-219E-B0BB-9023-633240A6F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17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8332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0BA0-ED66-9733-B040-44EC2051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09ECD-8163-478A-EB20-B91B36CF5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C221C-7964-68D5-AE27-BB4608672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06641-6019-EE68-E2FC-AD7BEB890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18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458912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B558-EC4D-3477-2B10-99F33330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21D11-92B0-480C-533B-85DFC047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4A0BC-8C72-92D8-E4C2-99573EC64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0D216-0464-F8D7-10DE-944801990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19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837102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23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4194327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7996-72CE-CA05-1AF2-23B18F41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465D6-15D6-FE01-8F5E-17B0ECB6E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055D5-F584-5387-9F8F-D56A1AF5F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D83FE-62F8-F82B-513B-439189C3C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24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156358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25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648311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FDCC2-646B-4C13-A2C5-83C221A1E047}" type="slidenum">
              <a:rPr lang="en-CY" smtClean="0"/>
              <a:t>27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8579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515733" y="3100967"/>
            <a:ext cx="4871200" cy="131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6387133" y="3039733"/>
            <a:ext cx="1790800" cy="13192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533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5147216" y="-2541398"/>
            <a:ext cx="5145605" cy="820532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553695" y="718401"/>
            <a:ext cx="10182521" cy="6859923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074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960000" y="1409035"/>
            <a:ext cx="10272000" cy="5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oogle Shape;48;p4"/>
          <p:cNvGrpSpPr/>
          <p:nvPr/>
        </p:nvGrpSpPr>
        <p:grpSpPr>
          <a:xfrm>
            <a:off x="251036" y="2201569"/>
            <a:ext cx="11559088" cy="2797592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575816" y="-442133"/>
            <a:ext cx="14693693" cy="7564517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Y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Y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90150" y="-224885"/>
            <a:ext cx="10558707" cy="3851957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5876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6482432" y="3250767"/>
            <a:ext cx="3481200" cy="19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2228359" y="3250767"/>
            <a:ext cx="3481200" cy="19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2228359" y="2722200"/>
            <a:ext cx="3481200" cy="6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6482441" y="2722200"/>
            <a:ext cx="3481200" cy="6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251037" y="3250772"/>
            <a:ext cx="11559132" cy="1748389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3780999" y="7"/>
            <a:ext cx="16393155" cy="1017936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457167" y="3366215"/>
            <a:ext cx="11618163" cy="2596184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059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25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9860175" y="5448807"/>
            <a:ext cx="6388892" cy="1231763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702776" y="4533749"/>
            <a:ext cx="11126091" cy="1658340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4201951" y="-4544137"/>
            <a:ext cx="15775555" cy="12086944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Y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729461" y="1299167"/>
            <a:ext cx="12325931" cy="5131180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337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3288324" y="-3825945"/>
            <a:ext cx="15194504" cy="6129609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201177" y="1516637"/>
            <a:ext cx="12107357" cy="1085157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69013" y="1822363"/>
            <a:ext cx="13231072" cy="4157229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714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3206833" y="2721033"/>
            <a:ext cx="7076000" cy="1330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7333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3206833" y="4051833"/>
            <a:ext cx="70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427826" y="1189984"/>
            <a:ext cx="6997257" cy="5340707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497538" y="-179358"/>
            <a:ext cx="7560141" cy="7799817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767049" y="-2406671"/>
            <a:ext cx="11011395" cy="12948971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339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326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4236475" y="1599372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4236475" y="3870161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4236475" y="2356301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4236475" y="4627092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4236475" y="3113232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4236475" y="5384021"/>
            <a:ext cx="979600" cy="658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6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4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5347925" y="1601772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5347925" y="2358704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5347925" y="3115636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5347921" y="3872569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5347921" y="4629501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5347921" y="5386433"/>
            <a:ext cx="3623600" cy="6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503237" y="272567"/>
            <a:ext cx="11888156" cy="6055395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742331" y="-76000"/>
            <a:ext cx="13906208" cy="450460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213800" y="1356982"/>
            <a:ext cx="12046157" cy="1792724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6528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960000" y="1534600"/>
            <a:ext cx="10272000" cy="39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11191536" y="-2170355"/>
            <a:ext cx="819865" cy="3842461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8647407" y="5506384"/>
            <a:ext cx="359595" cy="1612587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089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453367" y="3251031"/>
            <a:ext cx="30136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4668967" y="3251031"/>
            <a:ext cx="30136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7884575" y="3251031"/>
            <a:ext cx="30136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453367" y="2706567"/>
            <a:ext cx="3013600" cy="6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4668971" y="2706567"/>
            <a:ext cx="3013600" cy="6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7884576" y="2706567"/>
            <a:ext cx="3013600" cy="6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251037" y="593373"/>
            <a:ext cx="11559132" cy="6128356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637667" y="1840775"/>
            <a:ext cx="11065313" cy="2574245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346931" y="-712012"/>
            <a:ext cx="11657236" cy="792887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Y"/>
            </a:p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CY"/>
              </a:p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8715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670965" y="2360133"/>
            <a:ext cx="37480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6773035" y="2360133"/>
            <a:ext cx="37480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670965" y="4375600"/>
            <a:ext cx="37480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6773035" y="4375600"/>
            <a:ext cx="37480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670967" y="1754733"/>
            <a:ext cx="3748000" cy="6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670967" y="3770300"/>
            <a:ext cx="3748000" cy="6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6773000" y="1754733"/>
            <a:ext cx="3748000" cy="6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6773000" y="3770300"/>
            <a:ext cx="3748000" cy="6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649434" y="4991234"/>
            <a:ext cx="11644045" cy="1465327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263534" y="1337506"/>
            <a:ext cx="11586012" cy="3880649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41267" y="-222389"/>
            <a:ext cx="12669256" cy="6975556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1908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577267" y="2306567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4774475" y="2306579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577267" y="4558733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4772000" y="4558733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7966733" y="2306579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7966733" y="4558733"/>
            <a:ext cx="2648000" cy="1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587667" y="1861935"/>
            <a:ext cx="26376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4779675" y="1861944"/>
            <a:ext cx="26376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7971933" y="1861944"/>
            <a:ext cx="26376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577267" y="4110067"/>
            <a:ext cx="26480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4779677" y="4110067"/>
            <a:ext cx="26376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7971931" y="4110067"/>
            <a:ext cx="2637600" cy="6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133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32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231452" y="2739869"/>
            <a:ext cx="11970608" cy="1166851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1009048" y="934448"/>
            <a:ext cx="10910979" cy="6118931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558296" y="-732533"/>
            <a:ext cx="13209167" cy="7748796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31041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362967" y="3953993"/>
            <a:ext cx="4510000" cy="10252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54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362967" y="4986867"/>
            <a:ext cx="4510000" cy="51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4047003" y="1760233"/>
            <a:ext cx="4510000" cy="10252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54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4047003" y="2793491"/>
            <a:ext cx="4510000" cy="51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6731040" y="3953993"/>
            <a:ext cx="4510000" cy="10252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5467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8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6731040" y="4986867"/>
            <a:ext cx="4510000" cy="51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12160681" y="929431"/>
            <a:ext cx="53408" cy="58784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986400" y="554481"/>
            <a:ext cx="13523469" cy="2867012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787972" y="-4244403"/>
            <a:ext cx="13631919" cy="16252220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889487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1331067" y="2491116"/>
            <a:ext cx="10467757" cy="3897057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2117385" y="3244786"/>
            <a:ext cx="9918423" cy="3370740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586032" y="-148433"/>
            <a:ext cx="13877999" cy="7149533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9386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55452" y="3519369"/>
            <a:ext cx="11994875" cy="2457851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3638899" y="4478015"/>
            <a:ext cx="8200528" cy="1980781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841745" y="-2500233"/>
            <a:ext cx="14641527" cy="9517929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3785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331670" y="655373"/>
            <a:ext cx="11559132" cy="6128356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420834" y="1706375"/>
            <a:ext cx="11469980" cy="2083245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474231" y="-756412"/>
            <a:ext cx="11668669" cy="792887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676447" y="843663"/>
            <a:ext cx="304100" cy="26300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09849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78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622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146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25619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6" r:id="rId4"/>
    <p:sldLayoutId id="2147483708" r:id="rId5"/>
    <p:sldLayoutId id="2147483709" r:id="rId6"/>
    <p:sldLayoutId id="2147483710" r:id="rId7"/>
    <p:sldLayoutId id="2147483711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2" r:id="rId16"/>
    <p:sldLayoutId id="2147483723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97080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8632-D98F-65CF-C9D7-A9A4C37D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139" y="383338"/>
            <a:ext cx="8777719" cy="2510800"/>
          </a:xfrm>
        </p:spPr>
        <p:txBody>
          <a:bodyPr/>
          <a:lstStyle/>
          <a:p>
            <a:r>
              <a:rPr lang="en-US" sz="6600" dirty="0"/>
              <a:t>Hardware-Software Co-Design</a:t>
            </a:r>
            <a:endParaRPr lang="en-CY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B79FB-CD3D-18A6-0198-76DDBD732D76}"/>
              </a:ext>
            </a:extLst>
          </p:cNvPr>
          <p:cNvSpPr txBox="1"/>
          <p:nvPr/>
        </p:nvSpPr>
        <p:spPr>
          <a:xfrm>
            <a:off x="1532092" y="2370918"/>
            <a:ext cx="91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dk1"/>
                </a:solidFill>
                <a:latin typeface="Raleway Black"/>
                <a:sym typeface="Raleway Black"/>
              </a:rPr>
              <a:t>Flexible Per-Row </a:t>
            </a:r>
            <a:r>
              <a:rPr lang="en-US" sz="2800">
                <a:solidFill>
                  <a:schemeClr val="dk1"/>
                </a:solidFill>
                <a:latin typeface="Raleway Black"/>
                <a:sym typeface="Raleway Black"/>
              </a:rPr>
              <a:t>Sparsity Patterns</a:t>
            </a:r>
            <a:endParaRPr lang="en-CY" sz="2800" dirty="0">
              <a:solidFill>
                <a:schemeClr val="dk1"/>
              </a:solidFill>
              <a:latin typeface="Raleway Black"/>
              <a:sym typeface="Raleway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3C32E-E09D-5DE7-EC39-04065B39A333}"/>
              </a:ext>
            </a:extLst>
          </p:cNvPr>
          <p:cNvSpPr txBox="1"/>
          <p:nvPr/>
        </p:nvSpPr>
        <p:spPr>
          <a:xfrm>
            <a:off x="1306889" y="4881718"/>
            <a:ext cx="95782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Raleway"/>
              </a:rPr>
              <a:t>Sozos Koulas </a:t>
            </a:r>
            <a:r>
              <a:rPr lang="el-GR" sz="2000" dirty="0">
                <a:solidFill>
                  <a:schemeClr val="dk1"/>
                </a:solidFill>
                <a:latin typeface="Raleway"/>
              </a:rPr>
              <a:t>– </a:t>
            </a:r>
            <a:r>
              <a:rPr lang="en-US" sz="2000" dirty="0">
                <a:solidFill>
                  <a:schemeClr val="dk1"/>
                </a:solidFill>
                <a:latin typeface="Raleway"/>
              </a:rPr>
              <a:t>Undergraduate Student</a:t>
            </a: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Raleway"/>
              </a:rPr>
              <a:t>Ilias </a:t>
            </a:r>
            <a:r>
              <a:rPr lang="en-US" sz="2000" dirty="0" err="1">
                <a:solidFill>
                  <a:schemeClr val="dk1"/>
                </a:solidFill>
                <a:latin typeface="Raleway"/>
              </a:rPr>
              <a:t>Papalambrou</a:t>
            </a:r>
            <a:endParaRPr lang="el-GR" sz="2000" dirty="0">
              <a:solidFill>
                <a:schemeClr val="dk1"/>
              </a:solidFill>
              <a:latin typeface="Raleway"/>
            </a:endParaRP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Raleway"/>
              </a:rPr>
              <a:t>Dimosthenis </a:t>
            </a:r>
            <a:r>
              <a:rPr lang="en-US" sz="2000" dirty="0" err="1">
                <a:solidFill>
                  <a:schemeClr val="dk1"/>
                </a:solidFill>
                <a:latin typeface="Raleway"/>
              </a:rPr>
              <a:t>Masouros</a:t>
            </a:r>
            <a:endParaRPr lang="en-US" sz="2000" dirty="0">
              <a:solidFill>
                <a:schemeClr val="dk1"/>
              </a:solidFill>
              <a:latin typeface="Raleway"/>
            </a:endParaRP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Raleway"/>
              </a:rPr>
              <a:t>D</a:t>
            </a:r>
            <a:r>
              <a:rPr lang="el-GR" sz="2000" dirty="0">
                <a:solidFill>
                  <a:schemeClr val="dk1"/>
                </a:solidFill>
                <a:latin typeface="Raleway"/>
              </a:rPr>
              <a:t>ι</a:t>
            </a:r>
            <a:r>
              <a:rPr lang="en-US" sz="2000" dirty="0">
                <a:solidFill>
                  <a:schemeClr val="dk1"/>
                </a:solidFill>
                <a:latin typeface="Raleway"/>
              </a:rPr>
              <a:t>m</a:t>
            </a:r>
            <a:r>
              <a:rPr lang="el-GR" sz="2000" dirty="0">
                <a:solidFill>
                  <a:schemeClr val="dk1"/>
                </a:solidFill>
                <a:latin typeface="Raleway"/>
              </a:rPr>
              <a:t>ι</a:t>
            </a:r>
            <a:r>
              <a:rPr lang="en-US" sz="2000" dirty="0">
                <a:solidFill>
                  <a:schemeClr val="dk1"/>
                </a:solidFill>
                <a:latin typeface="Raleway"/>
              </a:rPr>
              <a:t>trios </a:t>
            </a:r>
            <a:r>
              <a:rPr lang="en-US" sz="2000" dirty="0" err="1">
                <a:solidFill>
                  <a:schemeClr val="dk1"/>
                </a:solidFill>
                <a:latin typeface="Raleway"/>
              </a:rPr>
              <a:t>Soundris</a:t>
            </a:r>
            <a:endParaRPr lang="en-US" sz="2000" dirty="0">
              <a:solidFill>
                <a:schemeClr val="dk1"/>
              </a:solidFill>
              <a:latin typeface="Raleway"/>
            </a:endParaRP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Raleway"/>
              </a:rPr>
              <a:t>School of Electrical and Electronics Engineering at NTUA</a:t>
            </a:r>
            <a:endParaRPr lang="en-CY" sz="1100" dirty="0">
              <a:latin typeface="Ralew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3FEA5-9607-4144-999B-5AE4A2792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06" b="95535" l="1917" r="96167">
                        <a14:foregroundMark x1="64465" y1="3778" x2="34168" y2="6044"/>
                        <a14:foregroundMark x1="32214" y1="6468" x2="17000" y2="15501"/>
                        <a14:foregroundMark x1="17000" y1="15501" x2="7333" y2="26369"/>
                        <a14:foregroundMark x1="5659" y1="34509" x2="3003" y2="47429"/>
                        <a14:foregroundMark x1="7333" y1="26369" x2="5988" y2="32910"/>
                        <a14:foregroundMark x1="2894" y1="60788" x2="9219" y2="77003"/>
                        <a14:foregroundMark x1="12962" y1="82012" x2="28167" y2="92671"/>
                        <a14:foregroundMark x1="45657" y1="97622" x2="49000" y2="98568"/>
                        <a14:foregroundMark x1="28167" y1="92671" x2="43395" y2="96981"/>
                        <a14:foregroundMark x1="57227" y1="96905" x2="69000" y2="94524"/>
                        <a14:foregroundMark x1="49000" y1="98568" x2="54861" y2="97383"/>
                        <a14:foregroundMark x1="69000" y1="94524" x2="82942" y2="85083"/>
                        <a14:foregroundMark x1="87908" y1="79642" x2="95000" y2="64954"/>
                        <a14:foregroundMark x1="95000" y1="64954" x2="96787" y2="40523"/>
                        <a14:foregroundMark x1="92604" y1="28322" x2="69130" y2="6078"/>
                        <a14:foregroundMark x1="17500" y1="19124" x2="11083" y2="23252"/>
                        <a14:foregroundMark x1="11083" y1="23252" x2="4491" y2="32742"/>
                        <a14:foregroundMark x1="5770" y1="72034" x2="5581" y2="70782"/>
                        <a14:foregroundMark x1="3162" y1="54766" x2="5522" y2="70391"/>
                        <a14:foregroundMark x1="6106" y1="72033" x2="24500" y2="43724"/>
                        <a14:foregroundMark x1="24500" y1="43724" x2="22150" y2="10392"/>
                        <a14:foregroundMark x1="48333" y1="8593" x2="31833" y2="18871"/>
                        <a14:foregroundMark x1="31833" y1="18871" x2="34500" y2="65628"/>
                        <a14:foregroundMark x1="34500" y1="65628" x2="55083" y2="18955"/>
                        <a14:foregroundMark x1="55083" y1="18955" x2="39583" y2="9773"/>
                        <a14:foregroundMark x1="24167" y1="19461" x2="17167" y2="24347"/>
                        <a14:foregroundMark x1="17167" y1="24347" x2="22167" y2="44650"/>
                        <a14:foregroundMark x1="22167" y1="44650" x2="40167" y2="32435"/>
                        <a14:foregroundMark x1="9500" y1="35720" x2="8417" y2="43555"/>
                        <a14:foregroundMark x1="8417" y1="43555" x2="12167" y2="56024"/>
                        <a14:foregroundMark x1="12167" y1="56024" x2="16833" y2="54760"/>
                        <a14:foregroundMark x1="28750" y1="83909" x2="38333" y2="88458"/>
                        <a14:foregroundMark x1="38333" y1="88458" x2="58583" y2="91575"/>
                        <a14:foregroundMark x1="58583" y1="91575" x2="61083" y2="91070"/>
                        <a14:foregroundMark x1="39417" y1="94356" x2="47417" y2="94608"/>
                        <a14:foregroundMark x1="47417" y1="94608" x2="60583" y2="92839"/>
                        <a14:foregroundMark x1="60583" y1="92839" x2="61167" y2="92418"/>
                        <a14:foregroundMark x1="39917" y1="94861" x2="55250" y2="95619"/>
                        <a14:foregroundMark x1="55250" y1="95619" x2="62333" y2="94356"/>
                        <a14:foregroundMark x1="44167" y1="87784" x2="52667" y2="53243"/>
                        <a14:foregroundMark x1="65917" y1="11457" x2="65917" y2="11457"/>
                        <a14:foregroundMark x1="2632" y1="60794" x2="2833" y2="61163"/>
                        <a14:foregroundMark x1="96250" y1="41786" x2="97667" y2="50295"/>
                        <a14:foregroundMark x1="97667" y1="50295" x2="95667" y2="43639"/>
                        <a14:foregroundMark x1="95667" y1="43639" x2="96167" y2="42881"/>
                        <a14:foregroundMark x1="4667" y1="33530" x2="2000" y2="48189"/>
                        <a14:foregroundMark x1="2000" y1="48189" x2="2667" y2="58551"/>
                        <a14:foregroundMark x1="31667" y1="5813" x2="45583" y2="2190"/>
                        <a14:foregroundMark x1="45583" y1="2190" x2="53750" y2="2106"/>
                        <a14:foregroundMark x1="53750" y1="2106" x2="69833" y2="6571"/>
                        <a14:backgroundMark x1="5917" y1="73463" x2="5917" y2="73210"/>
                        <a14:backgroundMark x1="6167" y1="72873" x2="4917" y2="70767"/>
                        <a14:backgroundMark x1="6083" y1="73547" x2="5083" y2="71104"/>
                        <a14:backgroundMark x1="6167" y1="73547" x2="5417" y2="71104"/>
                        <a14:backgroundMark x1="6000" y1="73463" x2="5833" y2="71188"/>
                        <a14:backgroundMark x1="6083" y1="73378" x2="5750" y2="70935"/>
                        <a14:backgroundMark x1="6167" y1="72957" x2="5750" y2="70767"/>
                        <a14:backgroundMark x1="6417" y1="72957" x2="4917" y2="70093"/>
                        <a14:backgroundMark x1="5750" y1="73126" x2="4583" y2="69840"/>
                        <a14:backgroundMark x1="5833" y1="72030" x2="5250" y2="70093"/>
                        <a14:backgroundMark x1="6167" y1="73294" x2="6167" y2="71946"/>
                        <a14:backgroundMark x1="12417" y1="82140" x2="9417" y2="78602"/>
                        <a14:backgroundMark x1="12750" y1="82645" x2="12000" y2="81213"/>
                        <a14:backgroundMark x1="12167" y1="81634" x2="12667" y2="82224"/>
                        <a14:backgroundMark x1="9000" y1="77085" x2="9583" y2="78602"/>
                        <a14:backgroundMark x1="42083" y1="99158" x2="44500" y2="99158"/>
                        <a14:backgroundMark x1="42833" y1="98989" x2="44667" y2="99158"/>
                        <a14:backgroundMark x1="43083" y1="98905" x2="44583" y2="98989"/>
                        <a14:backgroundMark x1="42333" y1="98484" x2="44750" y2="98905"/>
                        <a14:backgroundMark x1="54000" y1="98905" x2="56333" y2="98484"/>
                        <a14:backgroundMark x1="87750" y1="80118" x2="84833" y2="84836"/>
                        <a14:backgroundMark x1="88000" y1="79697" x2="87000" y2="81213"/>
                        <a14:backgroundMark x1="84250" y1="84414" x2="83250" y2="85341"/>
                        <a14:backgroundMark x1="93000" y1="28138" x2="96417" y2="35131"/>
                        <a14:backgroundMark x1="96417" y1="35131" x2="93667" y2="29233"/>
                        <a14:backgroundMark x1="95750" y1="35299" x2="97333" y2="40354"/>
                        <a14:backgroundMark x1="32424" y1="4418" x2="26000" y2="5813"/>
                        <a14:backgroundMark x1="26000" y1="5813" x2="30667" y2="84"/>
                        <a14:backgroundMark x1="30667" y1="84" x2="38667" y2="168"/>
                        <a14:backgroundMark x1="38667" y1="168" x2="47417" y2="84"/>
                        <a14:backgroundMark x1="54836" y1="369" x2="62750" y2="674"/>
                        <a14:backgroundMark x1="47417" y1="84" x2="53217" y2="307"/>
                        <a14:backgroundMark x1="62750" y1="674" x2="69167" y2="421"/>
                        <a14:backgroundMark x1="68167" y1="4044" x2="68833" y2="3791"/>
                        <a14:backgroundMark x1="68806" y1="4221" x2="68417" y2="3370"/>
                        <a14:backgroundMark x1="67917" y1="3960" x2="67500" y2="3454"/>
                        <a14:backgroundMark x1="23583" y1="7414" x2="22917" y2="8509"/>
                        <a14:backgroundMark x1="22667" y1="8846" x2="20250" y2="8340"/>
                        <a14:backgroundMark x1="22000" y1="5981" x2="24333" y2="8425"/>
                        <a14:backgroundMark x1="1120" y1="58652" x2="1167" y2="60826"/>
                        <a14:backgroundMark x1="889" y1="47984" x2="895" y2="48261"/>
                        <a14:backgroundMark x1="583" y1="33867" x2="781" y2="43006"/>
                        <a14:backgroundMark x1="1167" y1="60826" x2="1365" y2="58636"/>
                        <a14:backgroundMark x1="2201" y1="35202" x2="583" y2="34288"/>
                        <a14:backgroundMark x1="3917" y1="32856" x2="3728" y2="33357"/>
                        <a14:backgroundMark x1="4000" y1="32687" x2="3922" y2="33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643" y="3055751"/>
            <a:ext cx="1698714" cy="168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4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8C63F-5BC2-BE19-A44E-15A7691E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D8CF-707C-1EB6-58F9-FEC987B8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Introduction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CE4D9-612C-154A-6214-593F99901956}"/>
              </a:ext>
            </a:extLst>
          </p:cNvPr>
          <p:cNvSpPr txBox="1"/>
          <p:nvPr/>
        </p:nvSpPr>
        <p:spPr>
          <a:xfrm>
            <a:off x="1515732" y="4250890"/>
            <a:ext cx="487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  <a:sym typeface="Raleway ExtraBold"/>
              </a:rPr>
              <a:t>The Evolution of Structured Sparsity in Deep Learning</a:t>
            </a:r>
            <a:endParaRPr lang="en-CY" sz="2400" dirty="0">
              <a:solidFill>
                <a:schemeClr val="lt1"/>
              </a:solidFill>
              <a:latin typeface="Raleway ExtraBold"/>
              <a:sym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39084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2A4A-A887-2230-3A8E-EB05BD52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Modern AI</a:t>
            </a:r>
            <a:endParaRPr lang="en-C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FE68F-C7CD-B9C0-F289-8432E1F9E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2266617"/>
            <a:ext cx="5136000" cy="2324765"/>
          </a:xfrm>
        </p:spPr>
        <p:txBody>
          <a:bodyPr/>
          <a:lstStyle/>
          <a:p>
            <a:pPr marL="203195" indent="0">
              <a:buNone/>
            </a:pPr>
            <a:r>
              <a:rPr lang="en-US" sz="1800" dirty="0"/>
              <a:t>Exponential growth in model parameters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Increasing demand for real-time inference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Memory Bandwidth and Energy Constraints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Necessity for Advanced Compression Techniques</a:t>
            </a:r>
            <a:endParaRPr lang="el-GR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0D07F7-E270-A023-7646-7A9CF4A63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00" y="2389520"/>
            <a:ext cx="1905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D879D25-D82E-A156-B6D2-4ABA5E02C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25" y="2949796"/>
            <a:ext cx="1714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110086C-6528-41D4-FF90-3E59B300D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12" y="3510072"/>
            <a:ext cx="219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4AD782E-1312-A83B-E29E-C046EA20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12" y="4050727"/>
            <a:ext cx="1905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9E42242-9D03-D53B-F22F-41B545E37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5" y="1625098"/>
            <a:ext cx="4993344" cy="36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83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D410-64A2-9223-26EF-ACB0D6F1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Matrix Sparsity</a:t>
            </a:r>
            <a:endParaRPr lang="en-CY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5769D81-5511-2C7E-68B9-0C74EE67F328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pPr algn="ctr"/>
            <a:r>
              <a:rPr lang="en-US" dirty="0"/>
              <a:t>Unstructured</a:t>
            </a:r>
            <a:endParaRPr lang="en-CY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C36D552-B5F3-FBFC-0E58-4DBEABA58BB5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pPr algn="ctr"/>
            <a:r>
              <a:rPr lang="en-US" dirty="0"/>
              <a:t>Structured</a:t>
            </a:r>
            <a:endParaRPr lang="en-CY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AA5CBCA-CD6F-CB33-6A93-C4E36ABACAE4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pPr algn="ctr"/>
            <a:r>
              <a:rPr lang="en-US" dirty="0"/>
              <a:t>Semi-Structured</a:t>
            </a:r>
            <a:endParaRPr lang="en-CY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C2B7EF-072D-0FF2-B3DB-B184D4BE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17" y="2516067"/>
            <a:ext cx="3429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41B5C79-D25A-6302-693C-6E2CC2DC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317" y="2516067"/>
            <a:ext cx="3429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3E56F65-4849-C0C7-068F-303F28D7F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300" y="2516067"/>
            <a:ext cx="43815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0BB85A-B606-6CE6-82BF-BC648AFFF8F7}"/>
              </a:ext>
            </a:extLst>
          </p:cNvPr>
          <p:cNvSpPr txBox="1"/>
          <p:nvPr/>
        </p:nvSpPr>
        <p:spPr>
          <a:xfrm>
            <a:off x="1619789" y="3537467"/>
            <a:ext cx="26807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Maximum flexibility with zero weights anywhere</a:t>
            </a:r>
          </a:p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High Accuracy but extremely difficult to accelerate in Hardware</a:t>
            </a:r>
            <a:endParaRPr lang="en-CY" sz="1600" dirty="0">
              <a:solidFill>
                <a:schemeClr val="dk1"/>
              </a:solidFill>
              <a:latin typeface="Hanken Grotesk"/>
              <a:sym typeface="Hanken Grotesk"/>
            </a:endParaRPr>
          </a:p>
          <a:p>
            <a:endParaRPr lang="en-CY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3864FB-6F96-F343-2AB2-B6A1201CDCE7}"/>
              </a:ext>
            </a:extLst>
          </p:cNvPr>
          <p:cNvSpPr txBox="1"/>
          <p:nvPr/>
        </p:nvSpPr>
        <p:spPr>
          <a:xfrm>
            <a:off x="4922020" y="3537467"/>
            <a:ext cx="26807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Entire Rows/Channels Removed</a:t>
            </a:r>
          </a:p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Easy for Hardware but often leads to significant accuracy degradation</a:t>
            </a:r>
            <a:endParaRPr lang="en-CY" sz="1600" dirty="0">
              <a:solidFill>
                <a:schemeClr val="dk1"/>
              </a:solidFill>
              <a:latin typeface="Hanken Grotesk"/>
              <a:sym typeface="Hanken Grotesk"/>
            </a:endParaRPr>
          </a:p>
          <a:p>
            <a:endParaRPr lang="en-CY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F787B-857C-7464-CDD9-6880BFA723AC}"/>
              </a:ext>
            </a:extLst>
          </p:cNvPr>
          <p:cNvSpPr txBox="1"/>
          <p:nvPr/>
        </p:nvSpPr>
        <p:spPr>
          <a:xfrm>
            <a:off x="8050997" y="3537467"/>
            <a:ext cx="268075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Fine-grained patterns like 2:4</a:t>
            </a:r>
          </a:p>
          <a:p>
            <a:pPr algn="ctr"/>
            <a:r>
              <a:rPr lang="en-US" sz="1600" dirty="0">
                <a:solidFill>
                  <a:schemeClr val="dk1"/>
                </a:solidFill>
                <a:latin typeface="Hanken Grotesk"/>
                <a:sym typeface="Hanken Grotesk"/>
              </a:rPr>
              <a:t>Bridges the gap between Accuracy and Hardware Efficiency</a:t>
            </a:r>
            <a:endParaRPr lang="en-CY" sz="1600" dirty="0">
              <a:solidFill>
                <a:schemeClr val="dk1"/>
              </a:solidFill>
              <a:latin typeface="Hanken Grotesk"/>
              <a:sym typeface="Hanken Grotesk"/>
            </a:endParaRPr>
          </a:p>
          <a:p>
            <a:endParaRPr lang="en-CY" sz="1800" dirty="0"/>
          </a:p>
        </p:txBody>
      </p:sp>
    </p:spTree>
    <p:extLst>
      <p:ext uri="{BB962C8B-B14F-4D97-AF65-F5344CB8AC3E}">
        <p14:creationId xmlns:p14="http://schemas.microsoft.com/office/powerpoint/2010/main" val="233273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51FD-D8F1-ADD2-C468-0E7908D3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Motivation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14798-3ABB-3071-07BA-5DABD5FDE133}"/>
              </a:ext>
            </a:extLst>
          </p:cNvPr>
          <p:cNvSpPr txBox="1"/>
          <p:nvPr/>
        </p:nvSpPr>
        <p:spPr>
          <a:xfrm>
            <a:off x="1515733" y="4250890"/>
            <a:ext cx="3768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Why move beyond the static 2:4 Pattern?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9276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AE77-BD83-0960-16DA-598988FB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9D6B-7295-DCEA-7772-44A877F5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State: NVIDIA 2:4</a:t>
            </a:r>
            <a:endParaRPr lang="en-C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A8486-C820-D980-D418-D5199092C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2266617"/>
            <a:ext cx="4797333" cy="2324765"/>
          </a:xfrm>
        </p:spPr>
        <p:txBody>
          <a:bodyPr/>
          <a:lstStyle/>
          <a:p>
            <a:pPr marL="203195" indent="0">
              <a:buNone/>
            </a:pPr>
            <a:r>
              <a:rPr lang="en-US" sz="1800" dirty="0"/>
              <a:t>50% Fixed Sparsity Ratio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High Hardware Throughput (2x Speedup)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Uniformity is a Limitation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Cannot Adapt to “Important” Rows</a:t>
            </a:r>
            <a:endParaRPr lang="el-GR" sz="1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7E79D99-DA9C-342C-5C06-8F2748B52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24" y="2389520"/>
            <a:ext cx="1714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A1CC170-3C8E-AE19-1C78-7D74435D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00" y="2949796"/>
            <a:ext cx="1714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A41CFAC-8697-75EB-DD07-811F9DDEB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08" y="3496604"/>
            <a:ext cx="1428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0E7A8174-3DFE-B2EA-DC47-7D968FD5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24" y="4042698"/>
            <a:ext cx="1428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3CBEA5D-A118-52FF-74D1-D814CAA1D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19" y="986963"/>
            <a:ext cx="4436073" cy="320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AD394-F73A-32FB-4080-25D676150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935" y="3893911"/>
            <a:ext cx="5015440" cy="262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4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CC7EF-6333-DCFC-2A2C-85CF41F8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3EF5-F89B-FC9D-8C22-13D6E38D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</a:t>
            </a:r>
            <a:r>
              <a:rPr lang="el-GR" dirty="0"/>
              <a:t> </a:t>
            </a:r>
            <a:r>
              <a:rPr lang="en-US" dirty="0"/>
              <a:t>Layers of Llama-3.2-1B</a:t>
            </a:r>
            <a:endParaRPr lang="en-C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90E5A-95A9-06D0-D528-6104364D5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619" y="1506252"/>
            <a:ext cx="9516762" cy="475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23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F72B-4E2B-EC71-189B-A4ED6F69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DB86-B5F3-7D25-2460-ED9D8A61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Adaptation</a:t>
            </a:r>
            <a:endParaRPr lang="en-C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FF0DF-5A28-A86F-0F23-70BBA2A92E57}"/>
              </a:ext>
            </a:extLst>
          </p:cNvPr>
          <p:cNvSpPr txBox="1"/>
          <p:nvPr/>
        </p:nvSpPr>
        <p:spPr>
          <a:xfrm>
            <a:off x="1562100" y="2451100"/>
            <a:ext cx="4864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0" u="none" strike="noStrike" dirty="0">
                <a:solidFill>
                  <a:srgbClr val="4F46E5"/>
                </a:solidFill>
                <a:effectLst/>
                <a:latin typeface="Lato" panose="020F0502020204030203" pitchFamily="34" charset="0"/>
              </a:rPr>
              <a:t>One Size</a:t>
            </a:r>
            <a:endParaRPr lang="en-CY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933F8-A9A8-7557-6AEA-E595B062AF50}"/>
              </a:ext>
            </a:extLst>
          </p:cNvPr>
          <p:cNvSpPr txBox="1"/>
          <p:nvPr/>
        </p:nvSpPr>
        <p:spPr>
          <a:xfrm>
            <a:off x="2692400" y="3897650"/>
            <a:ext cx="26035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>
                <a:solidFill>
                  <a:schemeClr val="dk1"/>
                </a:solidFill>
                <a:latin typeface="Raleway Black"/>
                <a:sym typeface="Raleway Black"/>
              </a:rPr>
              <a:t>Does</a:t>
            </a:r>
            <a:r>
              <a:rPr lang="en-US" dirty="0"/>
              <a:t> </a:t>
            </a:r>
            <a:r>
              <a:rPr lang="en-US" sz="2133" dirty="0">
                <a:solidFill>
                  <a:schemeClr val="dk1"/>
                </a:solidFill>
                <a:latin typeface="Raleway Black"/>
              </a:rPr>
              <a:t>Not Fit All</a:t>
            </a:r>
            <a:endParaRPr lang="en-CY" sz="2133" dirty="0">
              <a:solidFill>
                <a:schemeClr val="dk1"/>
              </a:solidFill>
              <a:latin typeface="Raleway Blac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AC779-97D1-D981-92CB-B01C4C3F018F}"/>
              </a:ext>
            </a:extLst>
          </p:cNvPr>
          <p:cNvSpPr txBox="1"/>
          <p:nvPr/>
        </p:nvSpPr>
        <p:spPr>
          <a:xfrm>
            <a:off x="6956854" y="2240818"/>
            <a:ext cx="322511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schemeClr val="dk1"/>
                </a:solidFill>
                <a:latin typeface="Raleway Black"/>
              </a:rPr>
              <a:t>Theoretical Thesis</a:t>
            </a:r>
            <a:endParaRPr lang="en-CY" sz="2133" dirty="0">
              <a:solidFill>
                <a:schemeClr val="dk1"/>
              </a:solidFill>
              <a:latin typeface="Raleway Black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69E88-B88B-489E-CFE5-26749BE95259}"/>
              </a:ext>
            </a:extLst>
          </p:cNvPr>
          <p:cNvSpPr txBox="1"/>
          <p:nvPr/>
        </p:nvSpPr>
        <p:spPr>
          <a:xfrm>
            <a:off x="6956854" y="2877953"/>
            <a:ext cx="4497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Hanken Grotesk"/>
              </a:rPr>
              <a:t>Different parts of a Neural Network possess different sensitivity to pruning</a:t>
            </a:r>
          </a:p>
          <a:p>
            <a:endParaRPr lang="en-US" sz="1600" dirty="0">
              <a:solidFill>
                <a:schemeClr val="dk1"/>
              </a:solidFill>
              <a:latin typeface="Hanken Grotesk"/>
            </a:endParaRPr>
          </a:p>
          <a:p>
            <a:r>
              <a:rPr lang="en-US" sz="1600" dirty="0">
                <a:solidFill>
                  <a:schemeClr val="dk1"/>
                </a:solidFill>
                <a:latin typeface="Hanken Grotesk"/>
              </a:rPr>
              <a:t>A static 50% ratio across all rows ignores the intrinsic hierarchical importance of weights</a:t>
            </a:r>
          </a:p>
          <a:p>
            <a:endParaRPr lang="en-US" sz="1600" dirty="0">
              <a:solidFill>
                <a:schemeClr val="dk1"/>
              </a:solidFill>
              <a:latin typeface="Hanken Grotesk"/>
            </a:endParaRPr>
          </a:p>
          <a:p>
            <a:r>
              <a:rPr lang="en-US" sz="1600" dirty="0">
                <a:solidFill>
                  <a:schemeClr val="dk1"/>
                </a:solidFill>
                <a:latin typeface="Hanken Grotesk"/>
              </a:rPr>
              <a:t>Our goal is to allow the hardware to handle variable sparsity while maintaining the acceleration benefits of the 2:4 structure</a:t>
            </a:r>
            <a:endParaRPr lang="en-CY" sz="1600" dirty="0">
              <a:solidFill>
                <a:schemeClr val="dk1"/>
              </a:solidFill>
              <a:latin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26590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D65A-1121-6CF4-7FB0-92ED5434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C970-F9E8-40BB-1ADD-28D9C6124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733" y="3100967"/>
            <a:ext cx="6511736" cy="1319200"/>
          </a:xfrm>
        </p:spPr>
        <p:txBody>
          <a:bodyPr/>
          <a:lstStyle/>
          <a:p>
            <a:r>
              <a:rPr lang="en-US" sz="5400" dirty="0"/>
              <a:t>Proposed Solution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26585-697D-3B03-2592-124A1EC01639}"/>
              </a:ext>
            </a:extLst>
          </p:cNvPr>
          <p:cNvSpPr txBox="1"/>
          <p:nvPr/>
        </p:nvSpPr>
        <p:spPr>
          <a:xfrm>
            <a:off x="1515733" y="4250890"/>
            <a:ext cx="524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Heterogenous Per-Row Sparsity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57405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A418-EAF8-1DA3-E49E-E0615B5B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5975-CD8B-7BBB-235E-C2885027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Sparsity</a:t>
            </a:r>
            <a:endParaRPr lang="en-C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3B93E-4BB6-710A-D800-FD0041132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936417"/>
            <a:ext cx="4797333" cy="2324765"/>
          </a:xfrm>
        </p:spPr>
        <p:txBody>
          <a:bodyPr/>
          <a:lstStyle/>
          <a:p>
            <a:pPr marL="203195" indent="0">
              <a:buNone/>
            </a:pPr>
            <a:r>
              <a:rPr lang="en-US" sz="1800" dirty="0"/>
              <a:t>Our architecture expands the 2:4 window concept to support multiple ratios (e.g. 2:4, 2:8, 2:16 and 2:32) dynamically per row or batch of input.</a:t>
            </a:r>
          </a:p>
          <a:p>
            <a:pPr marL="203195" indent="0">
              <a:buNone/>
            </a:pPr>
            <a:endParaRPr lang="en-US" sz="1800" dirty="0"/>
          </a:p>
          <a:p>
            <a:pPr marL="203195" indent="0">
              <a:buNone/>
            </a:pPr>
            <a:r>
              <a:rPr lang="en-US" sz="1800" dirty="0"/>
              <a:t>This allows “dense” row to keep more weights and “sparse” rows to keep less weights optimizing the accuracy-efficiency target</a:t>
            </a:r>
            <a:endParaRPr lang="el-GR" sz="1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74022D8-EA59-FF85-4B10-E808653F7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3062"/>
            <a:ext cx="523875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48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42F4-39F4-7519-2F8A-236B4652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9514-4F52-0113-BF18-57F7363A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Architectural Changes</a:t>
            </a:r>
            <a:endParaRPr lang="en-C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74358-E935-15A7-0400-4993E20811F6}"/>
              </a:ext>
            </a:extLst>
          </p:cNvPr>
          <p:cNvSpPr txBox="1">
            <a:spLocks/>
          </p:cNvSpPr>
          <p:nvPr/>
        </p:nvSpPr>
        <p:spPr>
          <a:xfrm>
            <a:off x="974287" y="2019482"/>
            <a:ext cx="10271999" cy="232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203195" indent="0"/>
            <a:r>
              <a:rPr lang="en-US" sz="1800" dirty="0"/>
              <a:t>Dynamic Multiplexing: Adaptive logic to route non-zero elements based on row/batch level metadata</a:t>
            </a:r>
          </a:p>
          <a:p>
            <a:pPr marL="203195" indent="0"/>
            <a:endParaRPr lang="en-US" sz="1800" dirty="0"/>
          </a:p>
          <a:p>
            <a:pPr marL="203195" indent="0"/>
            <a:r>
              <a:rPr lang="en-US" sz="1800" dirty="0"/>
              <a:t>Metadata Encoding: Extending the 2-bit index per 2:4 block to include row/batch level density flags</a:t>
            </a:r>
          </a:p>
          <a:p>
            <a:pPr marL="203195" indent="0"/>
            <a:endParaRPr lang="en-US" sz="1800" dirty="0"/>
          </a:p>
          <a:p>
            <a:pPr marL="203195" indent="0"/>
            <a:r>
              <a:rPr lang="en-US" sz="1800" dirty="0"/>
              <a:t>Run-time Sparsity Changes: Ability to change sparsity patterns on run-time per row-batch</a:t>
            </a:r>
          </a:p>
          <a:p>
            <a:pPr marL="203195" indent="0"/>
            <a:endParaRPr lang="en-US" sz="1800" dirty="0"/>
          </a:p>
          <a:p>
            <a:pPr marL="203195" indent="0"/>
            <a:endParaRPr lang="en-US" sz="1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6E06D5-7351-14A3-E2FA-98B0D6BB8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88" y="2142385"/>
            <a:ext cx="1905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4697DB6D-A2B4-C23A-EF3D-1339F0774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14" y="2702661"/>
            <a:ext cx="23812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E890FDE0-F30A-3F41-26DF-0A06BA57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13" y="3262937"/>
            <a:ext cx="219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4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DFA8-4B35-80BF-CB6E-C3D6D81B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DD40-A962-09E1-C2BF-6E47C408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733" y="3100967"/>
            <a:ext cx="7771142" cy="1319200"/>
          </a:xfrm>
        </p:spPr>
        <p:txBody>
          <a:bodyPr/>
          <a:lstStyle/>
          <a:p>
            <a:r>
              <a:rPr lang="en-US" sz="5400" dirty="0"/>
              <a:t>Baseline Architecture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E5582-4607-D9B8-67A0-C687B405B727}"/>
              </a:ext>
            </a:extLst>
          </p:cNvPr>
          <p:cNvSpPr txBox="1"/>
          <p:nvPr/>
        </p:nvSpPr>
        <p:spPr>
          <a:xfrm>
            <a:off x="1515733" y="4250890"/>
            <a:ext cx="524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Dense GEMV Module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21672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1438-0D6A-2F28-BD8F-D73206AC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DF3D-5045-A58E-61B7-201F61F4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Dense Module</a:t>
            </a:r>
            <a:endParaRPr lang="en-C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CBD83-FD98-AF24-6DDC-6EBEE7C0C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230" y="1356967"/>
            <a:ext cx="9639539" cy="514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8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55F7-EB17-F402-2F3B-1AE65DBF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CB5F-DD48-7BDB-8645-F7BBB92F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Core Dense Module</a:t>
            </a:r>
            <a:endParaRPr lang="en-C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F1208-AF3B-987E-0345-7A855056E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4" y="1453753"/>
            <a:ext cx="10534651" cy="39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54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FF85-215D-958D-6B4B-D3A3DF14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B47C-3C2D-9711-6CCF-94A05806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Block Dense Module</a:t>
            </a:r>
            <a:endParaRPr lang="en-C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AE078-64F2-C025-1E48-C397E04D6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806" y="1559719"/>
            <a:ext cx="3862387" cy="483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1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4733-C2D2-1BD8-E490-31087F5E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03B8-A8EE-162A-C9EA-CDE367E2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733" y="3100967"/>
            <a:ext cx="7771142" cy="1319200"/>
          </a:xfrm>
        </p:spPr>
        <p:txBody>
          <a:bodyPr/>
          <a:lstStyle/>
          <a:p>
            <a:r>
              <a:rPr lang="en-US" sz="5400" dirty="0"/>
              <a:t>Sparse Architecture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7EB30-84E8-5E5E-C528-26FC0555078E}"/>
              </a:ext>
            </a:extLst>
          </p:cNvPr>
          <p:cNvSpPr txBox="1"/>
          <p:nvPr/>
        </p:nvSpPr>
        <p:spPr>
          <a:xfrm>
            <a:off x="1515733" y="4250890"/>
            <a:ext cx="524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Sparse 2:N GEMV Module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37796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4D3A-B29C-6B6D-6371-3D471354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F12C-5870-1D08-CD65-03BFFA10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Sparse Module</a:t>
            </a:r>
            <a:endParaRPr lang="en-C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F08C2-6C67-38EF-2C9E-D9AF2B5EB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6230" y="1356967"/>
            <a:ext cx="9639539" cy="51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70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0C43-5AD9-B1FC-D6A0-A694337C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3BEE-E9F5-AB26-1793-A1ACA286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Core Sparse Module</a:t>
            </a:r>
            <a:endParaRPr lang="en-C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88F7F-9147-402B-5A6F-FF0607DC0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597" y="1399349"/>
            <a:ext cx="10824805" cy="405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0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37B3-0D34-09C3-5605-AAEE8F95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E292-B42A-65C9-19A8-1119F448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Block Sparse Module</a:t>
            </a:r>
            <a:endParaRPr lang="en-C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CF7DA-40EB-2E7C-E10A-C4FC38D55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934" y="1356967"/>
            <a:ext cx="4098131" cy="513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03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B88E-2B3F-11FA-D65B-63D2B6BE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AB35-8C2B-5400-B441-1173491B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733" y="3100967"/>
            <a:ext cx="7771142" cy="1319200"/>
          </a:xfrm>
        </p:spPr>
        <p:txBody>
          <a:bodyPr/>
          <a:lstStyle/>
          <a:p>
            <a:r>
              <a:rPr lang="en-US" sz="5400" dirty="0"/>
              <a:t>Results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C4E05-6D42-FD7A-6EEA-6FDD1E885B36}"/>
              </a:ext>
            </a:extLst>
          </p:cNvPr>
          <p:cNvSpPr txBox="1"/>
          <p:nvPr/>
        </p:nvSpPr>
        <p:spPr>
          <a:xfrm>
            <a:off x="1515733" y="4250890"/>
            <a:ext cx="6449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Sparse 2:N GEMV vs Dense GEMV Module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741534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1_SpeedupByShape">
            <a:extLst>
              <a:ext uri="{FF2B5EF4-FFF2-40B4-BE49-F238E27FC236}">
                <a16:creationId xmlns:a16="http://schemas.microsoft.com/office/drawing/2014/main" id="{0ED94FC3-9481-6235-243C-6A7D657DF3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6462458"/>
              </p:ext>
            </p:extLst>
          </p:nvPr>
        </p:nvGraphicFramePr>
        <p:xfrm>
          <a:off x="1385319" y="882305"/>
          <a:ext cx="9421361" cy="5093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0119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1915-7841-724E-F0A5-22E3EC4E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11_ActualOnly_ClusteredColumn">
            <a:extLst>
              <a:ext uri="{FF2B5EF4-FFF2-40B4-BE49-F238E27FC236}">
                <a16:creationId xmlns:a16="http://schemas.microsoft.com/office/drawing/2014/main" id="{BF9E9A14-743A-5CE9-7300-3D48359AA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0502199"/>
              </p:ext>
            </p:extLst>
          </p:nvPr>
        </p:nvGraphicFramePr>
        <p:xfrm>
          <a:off x="446116" y="1460038"/>
          <a:ext cx="11299768" cy="3937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5998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9843-D509-3C7C-131E-53AA9914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8_MixedAdditivity">
            <a:extLst>
              <a:ext uri="{FF2B5EF4-FFF2-40B4-BE49-F238E27FC236}">
                <a16:creationId xmlns:a16="http://schemas.microsoft.com/office/drawing/2014/main" id="{7821D03A-9D89-4B99-B30D-AD5998928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6811065"/>
              </p:ext>
            </p:extLst>
          </p:nvPr>
        </p:nvGraphicFramePr>
        <p:xfrm>
          <a:off x="1000963" y="513893"/>
          <a:ext cx="10190073" cy="5830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5267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5475-30F5-8FA1-D5DE-698A9EDD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12_LatencyPerMatrix_ClusteredColumn_Log">
            <a:extLst>
              <a:ext uri="{FF2B5EF4-FFF2-40B4-BE49-F238E27FC236}">
                <a16:creationId xmlns:a16="http://schemas.microsoft.com/office/drawing/2014/main" id="{B07F8224-C157-476F-6BCD-83BC1A4AA4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807927"/>
              </p:ext>
            </p:extLst>
          </p:nvPr>
        </p:nvGraphicFramePr>
        <p:xfrm>
          <a:off x="488750" y="1253066"/>
          <a:ext cx="11214500" cy="4351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8812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5_DSPOccupancy">
            <a:extLst>
              <a:ext uri="{FF2B5EF4-FFF2-40B4-BE49-F238E27FC236}">
                <a16:creationId xmlns:a16="http://schemas.microsoft.com/office/drawing/2014/main" id="{38B21BD6-21F4-33F3-A293-EAC47CA059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131887"/>
              </p:ext>
            </p:extLst>
          </p:nvPr>
        </p:nvGraphicFramePr>
        <p:xfrm>
          <a:off x="1253898" y="678051"/>
          <a:ext cx="9684204" cy="5501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1315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6_EnergyPerRow">
            <a:extLst>
              <a:ext uri="{FF2B5EF4-FFF2-40B4-BE49-F238E27FC236}">
                <a16:creationId xmlns:a16="http://schemas.microsoft.com/office/drawing/2014/main" id="{E15C12E7-4071-AD76-4BA7-7DF6F1A4D8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434457"/>
              </p:ext>
            </p:extLst>
          </p:nvPr>
        </p:nvGraphicFramePr>
        <p:xfrm>
          <a:off x="1411362" y="550333"/>
          <a:ext cx="9369275" cy="575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0455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7_BoardPowerFlat">
            <a:extLst>
              <a:ext uri="{FF2B5EF4-FFF2-40B4-BE49-F238E27FC236}">
                <a16:creationId xmlns:a16="http://schemas.microsoft.com/office/drawing/2014/main" id="{A6ED31A1-0CDF-DC93-9994-38633D7D5D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114963"/>
              </p:ext>
            </p:extLst>
          </p:nvPr>
        </p:nvGraphicFramePr>
        <p:xfrm>
          <a:off x="1783896" y="775456"/>
          <a:ext cx="8624207" cy="530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85660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EB55-D06A-0B5C-97E3-9974114B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F3F6-D6E9-3427-93F2-19235EEF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733" y="3100967"/>
            <a:ext cx="7771142" cy="1319200"/>
          </a:xfrm>
        </p:spPr>
        <p:txBody>
          <a:bodyPr/>
          <a:lstStyle/>
          <a:p>
            <a:r>
              <a:rPr lang="en-US" sz="5400" dirty="0"/>
              <a:t>Innovations</a:t>
            </a:r>
            <a:endParaRPr lang="en-CY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4041E-1B9B-18A9-22EA-1904BE5D3F7A}"/>
              </a:ext>
            </a:extLst>
          </p:cNvPr>
          <p:cNvSpPr txBox="1"/>
          <p:nvPr/>
        </p:nvSpPr>
        <p:spPr>
          <a:xfrm>
            <a:off x="1515733" y="4250890"/>
            <a:ext cx="6449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Raleway ExtraBold"/>
              </a:rPr>
              <a:t>Sparse 2:N GEMV vs Dense GEMV Module</a:t>
            </a:r>
            <a:endParaRPr lang="en-CY" sz="2400" dirty="0">
              <a:solidFill>
                <a:schemeClr val="lt1"/>
              </a:solidFill>
              <a:latin typeface="Ralewa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4279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9205-459F-4663-74ED-3552AB55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Implementation </a:t>
            </a:r>
            <a:r>
              <a:rPr lang="en-US" dirty="0" err="1"/>
              <a:t>Innovatios</a:t>
            </a:r>
            <a:endParaRPr lang="en-C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DB706-1346-33D7-F9E3-549628A3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9634256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Technology Market Research Pitch Deck by Slidesgo</Template>
  <TotalTime>1015</TotalTime>
  <Words>632</Words>
  <Application>Microsoft Office PowerPoint</Application>
  <PresentationFormat>Widescreen</PresentationFormat>
  <Paragraphs>114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Arial</vt:lpstr>
      <vt:lpstr>Hanken Grotesk</vt:lpstr>
      <vt:lpstr>Lato</vt:lpstr>
      <vt:lpstr>Nunito Light</vt:lpstr>
      <vt:lpstr>Proxima Nova</vt:lpstr>
      <vt:lpstr>Raleway</vt:lpstr>
      <vt:lpstr>Raleway Black</vt:lpstr>
      <vt:lpstr>Raleway ExtraBold</vt:lpstr>
      <vt:lpstr>Technology Market Research Pitch Deck by Slidesgo</vt:lpstr>
      <vt:lpstr>Slidesgo Final Pages</vt:lpstr>
      <vt:lpstr>Hardware-Software Co-Design</vt:lpstr>
      <vt:lpstr>Introduction</vt:lpstr>
      <vt:lpstr>The Challenge of Modern AI</vt:lpstr>
      <vt:lpstr>Defining Matrix Sparsity</vt:lpstr>
      <vt:lpstr>Motivation</vt:lpstr>
      <vt:lpstr>Current State: NVIDIA 2:4</vt:lpstr>
      <vt:lpstr>Pruning Layers of Llama-3.2-1B</vt:lpstr>
      <vt:lpstr>The Need for Adaptation</vt:lpstr>
      <vt:lpstr>Proposed Solution</vt:lpstr>
      <vt:lpstr>Flexible Sparsity</vt:lpstr>
      <vt:lpstr>Core Architectural Changes</vt:lpstr>
      <vt:lpstr>Baseline Architecture</vt:lpstr>
      <vt:lpstr>Top Dense Module</vt:lpstr>
      <vt:lpstr>C Core Dense Module</vt:lpstr>
      <vt:lpstr>C Block Dense Module</vt:lpstr>
      <vt:lpstr>Sparse Architecture</vt:lpstr>
      <vt:lpstr>Top Sparse Module</vt:lpstr>
      <vt:lpstr>C Core Sparse Module</vt:lpstr>
      <vt:lpstr>C Block Sparse Module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Innovations</vt:lpstr>
      <vt:lpstr>Main Implementation Innovatios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Σωζος Κουλας</dc:creator>
  <cp:lastModifiedBy>Σωζος Κουλας</cp:lastModifiedBy>
  <cp:revision>54</cp:revision>
  <dcterms:created xsi:type="dcterms:W3CDTF">2026-01-14T18:30:00Z</dcterms:created>
  <dcterms:modified xsi:type="dcterms:W3CDTF">2026-09-03T12:18:39Z</dcterms:modified>
</cp:coreProperties>
</file>